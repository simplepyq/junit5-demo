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ACF_64A4E99D.xml" ContentType="application/vnd.ms-powerpoint.comments+xml"/>
  <Override PartName="/ppt/notesSlides/notesSlide3.xml" ContentType="application/vnd.openxmlformats-officedocument.presentationml.notesSlide+xml"/>
  <Override PartName="/ppt/comments/modernComment_B3D_1FD3055C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B3F_A5FCDF11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B42_E4BA7CC0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B3C_FD910D41.xml" ContentType="application/vnd.ms-powerpoint.comments+xml"/>
  <Override PartName="/ppt/comments/modernComment_B43_AEA4502B.xml" ContentType="application/vnd.ms-powerpoint.comments+xml"/>
  <Override PartName="/ppt/notesSlides/notesSlide10.xml" ContentType="application/vnd.openxmlformats-officedocument.presentationml.notesSlide+xml"/>
  <Override PartName="/ppt/comments/modernComment_B4C_CB586E6B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67" r:id="rId3"/>
    <p:sldId id="2778" r:id="rId4"/>
    <p:sldId id="2877" r:id="rId5"/>
    <p:sldId id="2874" r:id="rId6"/>
    <p:sldId id="2879" r:id="rId7"/>
    <p:sldId id="2875" r:id="rId8"/>
    <p:sldId id="2887" r:id="rId9"/>
    <p:sldId id="2888" r:id="rId10"/>
    <p:sldId id="2881" r:id="rId11"/>
    <p:sldId id="2885" r:id="rId12"/>
    <p:sldId id="2891" r:id="rId13"/>
    <p:sldId id="2889" r:id="rId14"/>
    <p:sldId id="2882" r:id="rId15"/>
    <p:sldId id="2886" r:id="rId16"/>
    <p:sldId id="2876" r:id="rId17"/>
    <p:sldId id="2883" r:id="rId18"/>
    <p:sldId id="2895" r:id="rId19"/>
    <p:sldId id="2892" r:id="rId20"/>
    <p:sldId id="2893" r:id="rId21"/>
    <p:sldId id="2894" r:id="rId22"/>
    <p:sldId id="263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作者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CB9D"/>
    <a:srgbClr val="CE963A"/>
    <a:srgbClr val="00B050"/>
    <a:srgbClr val="1B6AA3"/>
    <a:srgbClr val="F5C527"/>
    <a:srgbClr val="ED5326"/>
    <a:srgbClr val="92D050"/>
    <a:srgbClr val="EF605E"/>
    <a:srgbClr val="8DC85C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DF5312-5439-4C72-972A-4DDF12782867}" v="54" dt="2024-01-04T02:07:01.546"/>
    <p1510:client id="{B46BD78A-E25D-426C-9CD2-5F989DA011FD}" v="4" dt="2024-01-03T09:49:09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8" autoAdjust="0"/>
    <p:restoredTop sz="86378" autoAdjust="0"/>
  </p:normalViewPr>
  <p:slideViewPr>
    <p:cSldViewPr snapToGrid="0">
      <p:cViewPr varScale="1">
        <p:scale>
          <a:sx n="105" d="100"/>
          <a:sy n="105" d="100"/>
        </p:scale>
        <p:origin x="144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omments/modernComment_ACF_64A4E9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F931CDF-80C5-4D1B-8847-F5FF03CF1A30}" authorId="{00000000-0000-0000-0000-000000000000}" created="2024-01-03T07:38:42.4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88529309" sldId="2767"/>
      <ac:spMk id="14" creationId="{B1A0568A-3639-9F8B-B153-1DA5755AFE5E}"/>
    </ac:deMkLst>
    <p188:replyLst>
      <p188:reply id="{1CCD152F-76A5-40C0-A180-037A66475F1A}" authorId="{00000000-0000-0000-0000-000000000000}" created="2024-01-03T07:43:25.201">
        <p188:txBody>
          <a:bodyPr/>
          <a:lstStyle/>
          <a:p>
            <a:r>
              <a:rPr lang="zh-CN" altLang="en-US"/>
              <a:t>如果时间允许，03、04之间可以考虑加一章，简单介绍一下xxl-job如何切换到powerjob，以及注意事项</a:t>
            </a:r>
          </a:p>
        </p188:txBody>
      </p188:reply>
      <p188:reply id="{A00F9037-9214-4C4A-A1CD-9AF660A35859}" authorId="{00000000-0000-0000-0000-000000000000}" created="2024-01-03T07:45:49.295">
        <p188:txBody>
          <a:bodyPr/>
          <a:lstStyle/>
          <a:p>
            <a:r>
              <a:rPr lang="zh-CN" altLang="en-US"/>
              <a:t>结合现行使用xxl-job的痛点来讲架构会更有针对性，听众也更容易理解</a:t>
            </a:r>
          </a:p>
        </p188:txBody>
      </p188:reply>
    </p188:replyLst>
    <p188:txBody>
      <a:bodyPr/>
      <a:lstStyle/>
      <a:p>
        <a:r>
          <a:rPr lang="zh-CN" altLang="en-US"/>
          <a:t>02、03之间可以加一章，介绍我们选定powerjob替换xxl-job的背景和理由</a:t>
        </a:r>
      </a:p>
    </p188:txBody>
  </p188:cm>
</p188:cmLst>
</file>

<file path=ppt/comments/modernComment_B3C_FD910D4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D29661-1868-4181-A99B-89FCE69D773B}" authorId="{00000000-0000-0000-0000-000000000000}" created="2024-01-03T09:47:48.271">
    <pc:sldMkLst xmlns:pc="http://schemas.microsoft.com/office/powerpoint/2013/main/command">
      <pc:docMk/>
      <pc:sldMk cId="4254141761" sldId="2876"/>
    </pc:sldMkLst>
    <p188:txBody>
      <a:bodyPr/>
      <a:lstStyle/>
      <a:p>
        <a:r>
          <a:rPr lang="zh-CN" altLang="en-US"/>
          <a:t>可以结合现有的监控 、后管、任务管理、任务实例等带大家快速熟悉，有个更直观映像</a:t>
        </a:r>
      </a:p>
    </p188:txBody>
  </p188:cm>
</p188:cmLst>
</file>

<file path=ppt/comments/modernComment_B3D_1FD305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32F69A-4B33-4FEF-8855-0C5E0A2021D4}" authorId="{00000000-0000-0000-0000-000000000000}" created="2024-01-03T07:33:14.044">
    <pc:sldMkLst xmlns:pc="http://schemas.microsoft.com/office/powerpoint/2013/main/command">
      <pc:docMk/>
      <pc:sldMk cId="533923164" sldId="2877"/>
    </pc:sldMkLst>
    <p188:txBody>
      <a:bodyPr/>
      <a:lstStyle/>
      <a:p>
        <a:r>
          <a:rPr lang="zh-CN" altLang="en-US"/>
          <a:t>图片下面可以加一些提炼性质的文字，方便大家理解</a:t>
        </a:r>
      </a:p>
    </p188:txBody>
  </p188:cm>
</p188:cmLst>
</file>

<file path=ppt/comments/modernComment_B3F_A5FCDF1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2C2B72-1528-4724-AB9E-CC2CCA726170}" authorId="{00000000-0000-0000-0000-000000000000}" created="2024-01-03T07:36:40.9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84812817" sldId="2879"/>
      <ac:graphicFrameMk id="8" creationId="{FB62CF32-1DED-4AAD-1A39-74B0CA39E4E1}"/>
    </ac:deMkLst>
    <p188:txBody>
      <a:bodyPr/>
      <a:lstStyle/>
      <a:p>
        <a:r>
          <a:rPr lang="zh-CN" altLang="en-US"/>
          <a:t>1、powerjob和elastic-job分别标红和标绿的意图是什么？
2、好的特性旁边可以加上打勾的小图标，这样更容易看出优劣</a:t>
        </a:r>
      </a:p>
    </p188:txBody>
  </p188:cm>
  <p188:cm id="{8472DCE9-0D78-44B5-BE70-D8517A78BDEF}" authorId="{00000000-0000-0000-0000-000000000000}" created="2024-01-03T09:45:43.579">
    <pc:sldMkLst xmlns:pc="http://schemas.microsoft.com/office/powerpoint/2013/main/command">
      <pc:docMk/>
      <pc:sldMk cId="2784812817" sldId="2879"/>
    </pc:sldMkLst>
    <p188:txBody>
      <a:bodyPr/>
      <a:lstStyle/>
      <a:p>
        <a:r>
          <a:rPr lang="zh-CN" altLang="en-US"/>
          <a:t>DAG 解决任务间复杂依赖问题 高级特性可以带一下，还有故障转移策略</a:t>
        </a:r>
      </a:p>
    </p188:txBody>
  </p188:cm>
</p188:cmLst>
</file>

<file path=ppt/comments/modernComment_B4C_CB586E6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EB06C2B-3D20-404E-8CBB-D5440A8E9EAA}" authorId="{00000000-0000-0000-0000-000000000000}" created="2024-01-03T07:41:50.6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11570283" sldId="2892"/>
      <ac:spMk id="4" creationId="{72DC7702-D0A0-498D-877F-DB8D57BE19B2}"/>
      <ac:txMk cp="0">
        <ac:context len="1" hash="13"/>
      </ac:txMk>
    </ac:txMkLst>
    <p188:txBody>
      <a:bodyPr/>
      <a:lstStyle/>
      <a:p>
        <a:r>
          <a:rPr lang="zh-CN" altLang="en-US"/>
          <a:t>针对调度频率&lt;15秒的场景，使用何种框架？</a:t>
        </a:r>
      </a:p>
    </p188:txBody>
  </p188:cm>
</p188:cmLst>
</file>

<file path=ppt/comments/modernComment_B42_E4BA7CC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028E74-D605-42C4-B362-535D9FBF57F9}" authorId="{00000000-0000-0000-0000-000000000000}" created="2024-01-03T09:49:09.508">
    <pc:sldMkLst xmlns:pc="http://schemas.microsoft.com/office/powerpoint/2013/main/command">
      <pc:docMk/>
      <pc:sldMk cId="3837426880" sldId="2882"/>
    </pc:sldMkLst>
    <p188:txBody>
      <a:bodyPr/>
      <a:lstStyle/>
      <a:p>
        <a:r>
          <a:rPr lang="zh-CN" altLang="en-US"/>
          <a:t>应该还有个 powerjob client 组件</a:t>
        </a:r>
      </a:p>
    </p188:txBody>
  </p188:cm>
</p188:cmLst>
</file>

<file path=ppt/comments/modernComment_B43_AEA450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6CA29D-FC0C-4D29-9186-0EE5B214C75B}" authorId="{00000000-0000-0000-0000-000000000000}" created="2024-01-03T07:41:50.6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30004011" sldId="2883"/>
      <ac:spMk id="4" creationId="{72DC7702-D0A0-498D-877F-DB8D57BE19B2}"/>
      <ac:txMk cp="15" len="16">
        <ac:context len="130" hash="2623914011"/>
      </ac:txMk>
    </ac:txMkLst>
    <p188:pos x="3441087" y="551659"/>
    <p188:txBody>
      <a:bodyPr/>
      <a:lstStyle/>
      <a:p>
        <a:r>
          <a:rPr lang="zh-CN" altLang="en-US"/>
          <a:t>针对调度频率&lt;15秒的场景，使用何种框架？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716A0-2696-354D-8C84-BB5C2B9A5323}" type="datetimeFigureOut">
              <a:rPr kumimoji="1" lang="zh-CN" altLang="en-US" smtClean="0"/>
              <a:t>2024/2/17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72515-6CD2-3743-9BAF-31AA9EB424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7628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72515-6CD2-3743-9BAF-31AA9EB424C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3261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32CB9D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72515-6CD2-3743-9BAF-31AA9EB424C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0855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72515-6CD2-3743-9BAF-31AA9EB424C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350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72515-6CD2-3743-9BAF-31AA9EB424C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6859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72515-6CD2-3743-9BAF-31AA9EB424C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1477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72515-6CD2-3743-9BAF-31AA9EB424C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2460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调度周期为</a:t>
            </a:r>
            <a:r>
              <a:rPr lang="en-US" altLang="zh-CN" dirty="0"/>
              <a:t>1</a:t>
            </a:r>
            <a:r>
              <a:rPr lang="zh-CN" altLang="en-US" dirty="0"/>
              <a:t>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72515-6CD2-3743-9BAF-31AA9EB424CB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5345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72515-6CD2-3743-9BAF-31AA9EB424CB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979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72515-6CD2-3743-9BAF-31AA9EB424CB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0157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72515-6CD2-3743-9BAF-31AA9EB424CB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4384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tif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2CB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4">
            <a:extLst>
              <a:ext uri="{FF2B5EF4-FFF2-40B4-BE49-F238E27FC236}">
                <a16:creationId xmlns:a16="http://schemas.microsoft.com/office/drawing/2014/main" id="{03DAA6C1-090B-217D-2992-1CE23FEC34D5}"/>
              </a:ext>
            </a:extLst>
          </p:cNvPr>
          <p:cNvSpPr>
            <a:spLocks noChangeAspect="1"/>
          </p:cNvSpPr>
          <p:nvPr userDrawn="1"/>
        </p:nvSpPr>
        <p:spPr>
          <a:xfrm>
            <a:off x="929940" y="1118860"/>
            <a:ext cx="813600" cy="8136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 sz="1050">
              <a:latin typeface="Titillium Web" panose="00000500000000000000" pitchFamily="2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2D3C622-4FA3-5646-B806-5210EEA228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48760" y="6073313"/>
            <a:ext cx="1765312" cy="38168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C004760-BB8C-F145-A354-22AD4099E18F}"/>
              </a:ext>
            </a:extLst>
          </p:cNvPr>
          <p:cNvSpPr txBox="1"/>
          <p:nvPr userDrawn="1"/>
        </p:nvSpPr>
        <p:spPr>
          <a:xfrm>
            <a:off x="136033" y="6588367"/>
            <a:ext cx="119199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0" i="0">
                <a:solidFill>
                  <a:srgbClr val="AEF1BB"/>
                </a:solidFill>
                <a:latin typeface="Quicksand Medium" pitchFamily="2" charset="0"/>
              </a:rPr>
              <a:t>The content of this presentation is proprietary and confidential information of Zhong</a:t>
            </a:r>
            <a:r>
              <a:rPr lang="en-HK" altLang="zh-CN" sz="800" b="0" i="0">
                <a:solidFill>
                  <a:srgbClr val="AEF1BB"/>
                </a:solidFill>
                <a:latin typeface="Quicksand Medium" pitchFamily="2" charset="0"/>
              </a:rPr>
              <a:t>An</a:t>
            </a:r>
            <a:r>
              <a:rPr lang="zh-TW" altLang="en-US" sz="800" b="0" i="0">
                <a:solidFill>
                  <a:srgbClr val="AEF1BB"/>
                </a:solidFill>
                <a:latin typeface="Quicksand Medium" pitchFamily="2" charset="0"/>
              </a:rPr>
              <a:t> </a:t>
            </a:r>
            <a:r>
              <a:rPr lang="en-HK" altLang="zh-TW" sz="800" b="0" i="0">
                <a:solidFill>
                  <a:srgbClr val="AEF1BB"/>
                </a:solidFill>
                <a:latin typeface="Quicksand Medium" pitchFamily="2" charset="0"/>
              </a:rPr>
              <a:t>Technology International Ltd</a:t>
            </a:r>
            <a:r>
              <a:rPr lang="en-US" altLang="zh-CN" sz="800" b="0" i="0">
                <a:solidFill>
                  <a:srgbClr val="AEF1BB"/>
                </a:solidFill>
                <a:latin typeface="Quicksand Medium" pitchFamily="2" charset="0"/>
              </a:rPr>
              <a:t>. It is not intended to be distributed to any third party without the written consent of Zhong</a:t>
            </a:r>
            <a:r>
              <a:rPr lang="en-HK" altLang="zh-CN" sz="800" b="0" i="0">
                <a:solidFill>
                  <a:srgbClr val="AEF1BB"/>
                </a:solidFill>
                <a:latin typeface="Quicksand Medium" pitchFamily="2" charset="0"/>
              </a:rPr>
              <a:t>An</a:t>
            </a:r>
            <a:r>
              <a:rPr lang="zh-TW" altLang="en-US" sz="800" b="0" i="0">
                <a:solidFill>
                  <a:srgbClr val="AEF1BB"/>
                </a:solidFill>
                <a:latin typeface="Quicksand Medium" pitchFamily="2" charset="0"/>
              </a:rPr>
              <a:t> </a:t>
            </a:r>
            <a:r>
              <a:rPr lang="en-HK" altLang="zh-TW" sz="800" b="0" i="0">
                <a:solidFill>
                  <a:srgbClr val="AEF1BB"/>
                </a:solidFill>
                <a:latin typeface="Quicksand Medium" pitchFamily="2" charset="0"/>
              </a:rPr>
              <a:t>Technology International Ltd</a:t>
            </a:r>
            <a:endParaRPr kumimoji="1" lang="zh-CN" altLang="en-US" sz="800" b="0" i="0">
              <a:solidFill>
                <a:srgbClr val="AEF1BB"/>
              </a:solidFill>
              <a:latin typeface="Quicksand Medium" pitchFamily="2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A40521D-D785-9B43-81D1-8E25D59C179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097213" y="85397"/>
            <a:ext cx="901700" cy="228600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92727B5F-AA2D-3248-D060-97CDCB9473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940" y="3114442"/>
            <a:ext cx="9610260" cy="629116"/>
          </a:xfrm>
          <a:prstGeom prst="rect">
            <a:avLst/>
          </a:prstGeom>
        </p:spPr>
        <p:txBody>
          <a:bodyPr anchor="b"/>
          <a:lstStyle>
            <a:lvl1pPr>
              <a:defRPr sz="3600" b="1" i="0">
                <a:solidFill>
                  <a:schemeClr val="bg1"/>
                </a:solidFill>
                <a:latin typeface="Quicksand" pitchFamily="2" charset="0"/>
                <a:ea typeface="Quicksand" pitchFamily="2" charset="0"/>
                <a:cs typeface="Quicksand" pitchFamily="2" charset="0"/>
              </a:defRPr>
            </a:lvl1pPr>
          </a:lstStyle>
          <a:p>
            <a:r>
              <a:rPr kumimoji="1" lang="en-US" altLang="zh-CN" dirty="0">
                <a:solidFill>
                  <a:srgbClr val="292D4D"/>
                </a:solidFill>
              </a:rPr>
              <a:t>Add the title 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67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FC9337F-80AF-8E40-99BE-53230A4E9F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60201"/>
            <a:ext cx="12192000" cy="406400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19A0A4D1-1E9B-FA42-AEA5-CD4AD850A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2673"/>
            <a:ext cx="10515600" cy="629116"/>
          </a:xfrm>
          <a:prstGeom prst="rect">
            <a:avLst/>
          </a:prstGeom>
        </p:spPr>
        <p:txBody>
          <a:bodyPr anchor="b"/>
          <a:lstStyle>
            <a:lvl1pPr>
              <a:defRPr sz="3600" b="1" i="0">
                <a:latin typeface="Quicksand" pitchFamily="2" charset="0"/>
                <a:ea typeface="Quicksand" pitchFamily="2" charset="0"/>
                <a:cs typeface="Quicksand" pitchFamily="2" charset="0"/>
              </a:defRPr>
            </a:lvl1pPr>
          </a:lstStyle>
          <a:p>
            <a:r>
              <a:rPr kumimoji="1" lang="en-US" altLang="zh-CN">
                <a:solidFill>
                  <a:srgbClr val="292D4D"/>
                </a:solidFill>
              </a:rPr>
              <a:t>Add the title here</a:t>
            </a:r>
            <a:r>
              <a:rPr kumimoji="1" lang="zh-CN" altLang="en-US"/>
              <a:t>　</a:t>
            </a: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6A1B123D-5B83-5F4A-B3A3-6B493673451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1555530"/>
            <a:ext cx="10515600" cy="46222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92D4D"/>
                </a:solidFill>
                <a:latin typeface="Quicksand" charset="0"/>
                <a:ea typeface="Quicksand" charset="0"/>
                <a:cs typeface="Quicksand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Click here to edit the female version of the text style</a:t>
            </a:r>
            <a:endParaRPr kumimoji="1" lang="zh-CN" altLang="en-US"/>
          </a:p>
        </p:txBody>
      </p:sp>
      <p:sp>
        <p:nvSpPr>
          <p:cNvPr id="2" name="Oval 4">
            <a:extLst>
              <a:ext uri="{FF2B5EF4-FFF2-40B4-BE49-F238E27FC236}">
                <a16:creationId xmlns:a16="http://schemas.microsoft.com/office/drawing/2014/main" id="{BE39A90B-3F86-83CA-B7E5-EEC937C8C4DC}"/>
              </a:ext>
            </a:extLst>
          </p:cNvPr>
          <p:cNvSpPr>
            <a:spLocks noChangeAspect="1"/>
          </p:cNvSpPr>
          <p:nvPr userDrawn="1"/>
        </p:nvSpPr>
        <p:spPr>
          <a:xfrm>
            <a:off x="11060400" y="413831"/>
            <a:ext cx="586800" cy="5868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 sz="1050">
              <a:latin typeface="Titillium Web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3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图片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2">
            <a:extLst>
              <a:ext uri="{FF2B5EF4-FFF2-40B4-BE49-F238E27FC236}">
                <a16:creationId xmlns:a16="http://schemas.microsoft.com/office/drawing/2014/main" id="{C928E818-0B20-6AC5-5C77-96135B78BAE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38200" y="1555529"/>
            <a:ext cx="10515600" cy="46222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Quicksand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en-US" altLang="zh-CN"/>
              <a:t>Add images</a:t>
            </a:r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362DE3F-EEFF-D742-A427-7C44FC0DDB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60201"/>
            <a:ext cx="12192000" cy="4064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7AEECC2-1371-EBAD-B810-3B401866C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2673"/>
            <a:ext cx="10515600" cy="629116"/>
          </a:xfrm>
          <a:prstGeom prst="rect">
            <a:avLst/>
          </a:prstGeom>
        </p:spPr>
        <p:txBody>
          <a:bodyPr anchor="b"/>
          <a:lstStyle>
            <a:lvl1pPr>
              <a:defRPr sz="3600" b="1" i="0">
                <a:latin typeface="Quicksand" pitchFamily="2" charset="0"/>
                <a:ea typeface="Quicksand" pitchFamily="2" charset="0"/>
                <a:cs typeface="Quicksand" pitchFamily="2" charset="0"/>
              </a:defRPr>
            </a:lvl1pPr>
          </a:lstStyle>
          <a:p>
            <a:r>
              <a:rPr kumimoji="1" lang="en-US" altLang="zh-CN" dirty="0">
                <a:solidFill>
                  <a:srgbClr val="292D4D"/>
                </a:solidFill>
              </a:rPr>
              <a:t>Add the title here</a:t>
            </a:r>
            <a:r>
              <a:rPr kumimoji="1" lang="zh-CN" altLang="en-US" dirty="0"/>
              <a:t>　</a:t>
            </a:r>
          </a:p>
        </p:txBody>
      </p:sp>
      <p:sp>
        <p:nvSpPr>
          <p:cNvPr id="3" name="Oval 4">
            <a:extLst>
              <a:ext uri="{FF2B5EF4-FFF2-40B4-BE49-F238E27FC236}">
                <a16:creationId xmlns:a16="http://schemas.microsoft.com/office/drawing/2014/main" id="{7A34D2BF-12CF-15A4-0A02-F3D3666CCBFA}"/>
              </a:ext>
            </a:extLst>
          </p:cNvPr>
          <p:cNvSpPr>
            <a:spLocks noChangeAspect="1"/>
          </p:cNvSpPr>
          <p:nvPr userDrawn="1"/>
        </p:nvSpPr>
        <p:spPr>
          <a:xfrm>
            <a:off x="11060400" y="413831"/>
            <a:ext cx="586800" cy="5868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 sz="1050">
              <a:latin typeface="Titillium Web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CBFB1-DB5B-2840-B869-DECE66C6271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rgbClr val="292D4D"/>
                </a:solidFill>
                <a:latin typeface="Quicksand Medium" pitchFamily="2" charset="0"/>
              </a:defRPr>
            </a:lvl1pPr>
          </a:lstStyle>
          <a:p>
            <a:pPr lvl="0"/>
            <a:r>
              <a:rPr kumimoji="1" lang="en-US" altLang="zh-CN"/>
              <a:t>Click here to edit the female version of the text style</a:t>
            </a:r>
            <a:endParaRPr kumimoji="1"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A6A0B3-0FBA-AC47-961E-D40575C6FDC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>
                <a:latin typeface="Quicksand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/>
              <a:t>Click here to edit the female version of the text style</a:t>
            </a:r>
            <a:endParaRPr kumimoji="1" lang="zh-CN" altLang="en-US"/>
          </a:p>
          <a:p>
            <a:pPr lvl="0"/>
            <a:endParaRPr kumimoji="1"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93993F7-5DCE-DD4E-96DA-DF82A3C81D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2673"/>
            <a:ext cx="10515600" cy="629116"/>
          </a:xfrm>
          <a:prstGeom prst="rect">
            <a:avLst/>
          </a:prstGeom>
        </p:spPr>
        <p:txBody>
          <a:bodyPr anchor="b"/>
          <a:lstStyle>
            <a:lvl1pPr>
              <a:defRPr sz="3600" b="1" i="0">
                <a:latin typeface="Quicksand" pitchFamily="2" charset="0"/>
                <a:ea typeface="Quicksand" pitchFamily="2" charset="0"/>
                <a:cs typeface="Quicksand" pitchFamily="2" charset="0"/>
              </a:defRPr>
            </a:lvl1pPr>
          </a:lstStyle>
          <a:p>
            <a:r>
              <a:rPr kumimoji="1" lang="en-US" altLang="zh-CN">
                <a:solidFill>
                  <a:srgbClr val="292D4D"/>
                </a:solidFill>
              </a:rPr>
              <a:t>Add the title here</a:t>
            </a:r>
            <a:r>
              <a:rPr kumimoji="1" lang="zh-CN" altLang="en-US"/>
              <a:t>　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E477AF5-63B5-6746-9090-709D781753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60201"/>
            <a:ext cx="12192000" cy="406400"/>
          </a:xfrm>
          <a:prstGeom prst="rect">
            <a:avLst/>
          </a:prstGeom>
        </p:spPr>
      </p:pic>
      <p:sp>
        <p:nvSpPr>
          <p:cNvPr id="2" name="Oval 4">
            <a:extLst>
              <a:ext uri="{FF2B5EF4-FFF2-40B4-BE49-F238E27FC236}">
                <a16:creationId xmlns:a16="http://schemas.microsoft.com/office/drawing/2014/main" id="{5BBDBFE8-4D09-8C7F-88DC-1D136AF9D78E}"/>
              </a:ext>
            </a:extLst>
          </p:cNvPr>
          <p:cNvSpPr>
            <a:spLocks noChangeAspect="1"/>
          </p:cNvSpPr>
          <p:nvPr userDrawn="1"/>
        </p:nvSpPr>
        <p:spPr>
          <a:xfrm>
            <a:off x="11060400" y="413831"/>
            <a:ext cx="586800" cy="5868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 sz="1050">
              <a:latin typeface="Titillium Web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236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535F96-ECF0-524B-ADA9-7ED1D2DAAE9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156030" y="2207178"/>
            <a:ext cx="3322146" cy="19654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Quicksand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en-US" altLang="zh-CN"/>
              <a:t>Add images</a:t>
            </a:r>
            <a:endParaRPr kumimoji="1" lang="zh-CN" altLang="en-US"/>
          </a:p>
        </p:txBody>
      </p:sp>
      <p:sp>
        <p:nvSpPr>
          <p:cNvPr id="10" name="图片占位符 2">
            <a:extLst>
              <a:ext uri="{FF2B5EF4-FFF2-40B4-BE49-F238E27FC236}">
                <a16:creationId xmlns:a16="http://schemas.microsoft.com/office/drawing/2014/main" id="{48976CC6-DB3A-D249-BEB6-89A694F3821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487920" y="2207178"/>
            <a:ext cx="3322146" cy="19654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Quicksand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en-US" altLang="zh-CN"/>
              <a:t>Add images</a:t>
            </a:r>
            <a:endParaRPr kumimoji="1" lang="zh-CN" altLang="en-US"/>
          </a:p>
        </p:txBody>
      </p:sp>
      <p:sp>
        <p:nvSpPr>
          <p:cNvPr id="11" name="图片占位符 2">
            <a:extLst>
              <a:ext uri="{FF2B5EF4-FFF2-40B4-BE49-F238E27FC236}">
                <a16:creationId xmlns:a16="http://schemas.microsoft.com/office/drawing/2014/main" id="{B5460438-5174-5246-A57B-C57ECFE6DBB7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19810" y="2207178"/>
            <a:ext cx="3322146" cy="19654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Quicksand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en-US" altLang="zh-CN"/>
              <a:t>Add images</a:t>
            </a:r>
            <a:endParaRPr kumimoji="1" lang="zh-CN" altLang="en-US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798ABE3-33EE-DD47-98BD-0467650FDF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2673"/>
            <a:ext cx="10515600" cy="629116"/>
          </a:xfrm>
          <a:prstGeom prst="rect">
            <a:avLst/>
          </a:prstGeom>
        </p:spPr>
        <p:txBody>
          <a:bodyPr anchor="b"/>
          <a:lstStyle>
            <a:lvl1pPr>
              <a:defRPr sz="3600" b="1" i="0">
                <a:latin typeface="Quicksand" pitchFamily="2" charset="0"/>
                <a:ea typeface="Quicksand" pitchFamily="2" charset="0"/>
                <a:cs typeface="Quicksand" pitchFamily="2" charset="0"/>
              </a:defRPr>
            </a:lvl1pPr>
          </a:lstStyle>
          <a:p>
            <a:r>
              <a:rPr kumimoji="1" lang="en-US" altLang="zh-CN">
                <a:solidFill>
                  <a:srgbClr val="292D4D"/>
                </a:solidFill>
              </a:rPr>
              <a:t>Add the title here</a:t>
            </a:r>
            <a:r>
              <a:rPr kumimoji="1" lang="zh-CN" altLang="en-US"/>
              <a:t>　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D598B39-39B4-0F49-A015-A4293DDB31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60201"/>
            <a:ext cx="12192000" cy="406400"/>
          </a:xfrm>
          <a:prstGeom prst="rect">
            <a:avLst/>
          </a:prstGeom>
        </p:spPr>
      </p:pic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B0778BD4-1F0E-0F4C-B881-76F07819ED3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38200" y="4466897"/>
            <a:ext cx="3303756" cy="12694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Quicksand" pitchFamily="2" charset="0"/>
                <a:ea typeface="Quicksand" pitchFamily="2" charset="0"/>
                <a:cs typeface="Quicksan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Content description</a:t>
            </a:r>
            <a:endParaRPr kumimoji="1" lang="zh-CN" altLang="en-US"/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95301EDD-6005-5242-B10D-AE925AC4237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464269" y="4466897"/>
            <a:ext cx="3303756" cy="12694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Quicksand" pitchFamily="2" charset="0"/>
                <a:ea typeface="Quicksand" pitchFamily="2" charset="0"/>
                <a:cs typeface="Quicksan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Content description</a:t>
            </a:r>
            <a:endParaRPr kumimoji="1" lang="zh-CN" altLang="en-US"/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C9722D0C-63AF-CD4A-8457-63FC5806CB8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2890" y="4466897"/>
            <a:ext cx="3303756" cy="12694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Quicksand" pitchFamily="2" charset="0"/>
                <a:ea typeface="Quicksand" pitchFamily="2" charset="0"/>
                <a:cs typeface="Quicksan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Content description</a:t>
            </a:r>
            <a:endParaRPr kumimoji="1" lang="zh-CN" altLang="en-US"/>
          </a:p>
        </p:txBody>
      </p:sp>
      <p:sp>
        <p:nvSpPr>
          <p:cNvPr id="2" name="Oval 4">
            <a:extLst>
              <a:ext uri="{FF2B5EF4-FFF2-40B4-BE49-F238E27FC236}">
                <a16:creationId xmlns:a16="http://schemas.microsoft.com/office/drawing/2014/main" id="{6801C589-7B9C-2F4E-C2D0-2854CD1FF8A6}"/>
              </a:ext>
            </a:extLst>
          </p:cNvPr>
          <p:cNvSpPr>
            <a:spLocks noChangeAspect="1"/>
          </p:cNvSpPr>
          <p:nvPr userDrawn="1"/>
        </p:nvSpPr>
        <p:spPr>
          <a:xfrm>
            <a:off x="11060400" y="413831"/>
            <a:ext cx="586800" cy="5868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 sz="1050">
              <a:latin typeface="Titillium Web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547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535F96-ECF0-524B-ADA9-7ED1D2DAAE9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746124" y="2123090"/>
            <a:ext cx="3732052" cy="33633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Quicksand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en-US" altLang="zh-CN"/>
              <a:t>Add images</a:t>
            </a:r>
            <a:endParaRPr kumimoji="1" lang="zh-CN" altLang="en-US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798ABE3-33EE-DD47-98BD-0467650FDF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2673"/>
            <a:ext cx="10515600" cy="629116"/>
          </a:xfrm>
          <a:prstGeom prst="rect">
            <a:avLst/>
          </a:prstGeom>
        </p:spPr>
        <p:txBody>
          <a:bodyPr anchor="b"/>
          <a:lstStyle>
            <a:lvl1pPr>
              <a:defRPr sz="3600" b="1" i="0">
                <a:latin typeface="Quicksand" pitchFamily="2" charset="0"/>
                <a:ea typeface="Quicksand" pitchFamily="2" charset="0"/>
                <a:cs typeface="Quicksand" pitchFamily="2" charset="0"/>
              </a:defRPr>
            </a:lvl1pPr>
          </a:lstStyle>
          <a:p>
            <a:r>
              <a:rPr kumimoji="1" lang="en-US" altLang="zh-CN">
                <a:solidFill>
                  <a:srgbClr val="292D4D"/>
                </a:solidFill>
              </a:rPr>
              <a:t>Add the title here</a:t>
            </a:r>
            <a:r>
              <a:rPr kumimoji="1" lang="zh-CN" altLang="en-US"/>
              <a:t>　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D598B39-39B4-0F49-A015-A4293DDB31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60201"/>
            <a:ext cx="12192000" cy="406400"/>
          </a:xfrm>
          <a:prstGeom prst="rect">
            <a:avLst/>
          </a:prstGeom>
        </p:spPr>
      </p:pic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55AA5825-66FA-AF4E-B406-CDDC0F977C8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38200" y="2123090"/>
            <a:ext cx="6666186" cy="33633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92D4D"/>
                </a:solidFill>
                <a:latin typeface="Quicksand" charset="0"/>
                <a:ea typeface="Quicksand" charset="0"/>
                <a:cs typeface="Quicksand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Click here to edit the female version of the text style</a:t>
            </a:r>
            <a:endParaRPr kumimoji="1" lang="zh-CN" altLang="en-US"/>
          </a:p>
        </p:txBody>
      </p:sp>
      <p:sp>
        <p:nvSpPr>
          <p:cNvPr id="2" name="Oval 4">
            <a:extLst>
              <a:ext uri="{FF2B5EF4-FFF2-40B4-BE49-F238E27FC236}">
                <a16:creationId xmlns:a16="http://schemas.microsoft.com/office/drawing/2014/main" id="{6E711115-252A-D069-5B8B-37B3E09D1DB8}"/>
              </a:ext>
            </a:extLst>
          </p:cNvPr>
          <p:cNvSpPr>
            <a:spLocks noChangeAspect="1"/>
          </p:cNvSpPr>
          <p:nvPr userDrawn="1"/>
        </p:nvSpPr>
        <p:spPr>
          <a:xfrm>
            <a:off x="11060400" y="413831"/>
            <a:ext cx="586800" cy="5868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 sz="1050">
              <a:latin typeface="Titillium Web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98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2CB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4">
            <a:extLst>
              <a:ext uri="{FF2B5EF4-FFF2-40B4-BE49-F238E27FC236}">
                <a16:creationId xmlns:a16="http://schemas.microsoft.com/office/drawing/2014/main" id="{AF4F1D82-5B69-33BD-676C-B8B6381449FC}"/>
              </a:ext>
            </a:extLst>
          </p:cNvPr>
          <p:cNvSpPr>
            <a:spLocks noChangeAspect="1"/>
          </p:cNvSpPr>
          <p:nvPr userDrawn="1"/>
        </p:nvSpPr>
        <p:spPr>
          <a:xfrm>
            <a:off x="11060400" y="413831"/>
            <a:ext cx="586800" cy="5868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 sz="1050">
              <a:latin typeface="Titillium Web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079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96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52" r:id="rId4"/>
    <p:sldLayoutId id="2147483657" r:id="rId5"/>
    <p:sldLayoutId id="2147483658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ACF_64A4E99D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B3D_1FD3055C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B3F_A5FCDF1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8/10/relationships/comments" Target="../comments/modernComment_B42_E4BA7CC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B3C_FD910D4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B43_AEA4502B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B4C_CB586E6B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B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44D6008E-EAA7-3445-91EA-F33D925ED020}"/>
              </a:ext>
            </a:extLst>
          </p:cNvPr>
          <p:cNvSpPr txBox="1"/>
          <p:nvPr/>
        </p:nvSpPr>
        <p:spPr>
          <a:xfrm>
            <a:off x="1736985" y="2644170"/>
            <a:ext cx="92106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icksand" charset="0"/>
              </a:rPr>
              <a:t>分布式任务调度实现的几种方式以及</a:t>
            </a:r>
            <a:r>
              <a:rPr kumimoji="1" lang="en-US" altLang="zh-CN" sz="4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icksand" charset="0"/>
              </a:rPr>
              <a:t>Powerjob</a:t>
            </a:r>
            <a:r>
              <a:rPr kumimoji="1"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icksand" charset="0"/>
              </a:rPr>
              <a:t>的实现原理</a:t>
            </a:r>
            <a:endParaRPr kumimoji="1"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Quicksand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4F83D1-BE18-CF4E-9C23-E398AB1ED169}"/>
              </a:ext>
            </a:extLst>
          </p:cNvPr>
          <p:cNvSpPr txBox="1"/>
          <p:nvPr/>
        </p:nvSpPr>
        <p:spPr>
          <a:xfrm>
            <a:off x="1774764" y="5714728"/>
            <a:ext cx="2188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i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icksand" charset="0"/>
              </a:rPr>
              <a:t>王仲坤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280AD1-8BF8-B24D-9721-E2233A1B7073}"/>
              </a:ext>
            </a:extLst>
          </p:cNvPr>
          <p:cNvSpPr txBox="1"/>
          <p:nvPr/>
        </p:nvSpPr>
        <p:spPr>
          <a:xfrm>
            <a:off x="1774764" y="6138649"/>
            <a:ext cx="2745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Bank Engineering-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架构平台组 </a:t>
            </a:r>
            <a:endParaRPr lang="zh-CN" altLang="en-US" sz="1400" b="0" i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3D990D7-7A5F-C345-B8A9-69EAD44AE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70" y="5757493"/>
            <a:ext cx="663175" cy="66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81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A4298D31-181A-28E1-1256-1FB434E6AED6}"/>
              </a:ext>
            </a:extLst>
          </p:cNvPr>
          <p:cNvSpPr/>
          <p:nvPr/>
        </p:nvSpPr>
        <p:spPr>
          <a:xfrm rot="1151270">
            <a:off x="537943" y="1002512"/>
            <a:ext cx="7153995" cy="5482180"/>
          </a:xfrm>
          <a:prstGeom prst="rect">
            <a:avLst/>
          </a:prstGeom>
          <a:gradFill flip="none" rotWithShape="1">
            <a:gsLst>
              <a:gs pos="54000">
                <a:schemeClr val="bg1">
                  <a:lumMod val="65000"/>
                  <a:lumOff val="35000"/>
                  <a:alpha val="0"/>
                </a:schemeClr>
              </a:gs>
              <a:gs pos="0">
                <a:schemeClr val="accent1">
                  <a:alpha val="54000"/>
                  <a:lumMod val="65000"/>
                  <a:lumOff val="35000"/>
                </a:schemeClr>
              </a:gs>
              <a:gs pos="0">
                <a:schemeClr val="bg1">
                  <a:lumMod val="75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55C00DB-9BE6-16E9-388A-4E477E170862}"/>
              </a:ext>
            </a:extLst>
          </p:cNvPr>
          <p:cNvGrpSpPr/>
          <p:nvPr/>
        </p:nvGrpSpPr>
        <p:grpSpPr>
          <a:xfrm>
            <a:off x="3599419" y="1160833"/>
            <a:ext cx="2231381" cy="687014"/>
            <a:chOff x="3430418" y="957579"/>
            <a:chExt cx="2231381" cy="68701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1403F52-1B70-E6EE-690C-FAFA66DCB9E0}"/>
                </a:ext>
              </a:extLst>
            </p:cNvPr>
            <p:cNvSpPr/>
            <p:nvPr/>
          </p:nvSpPr>
          <p:spPr>
            <a:xfrm rot="1151270">
              <a:off x="4326213" y="1172286"/>
              <a:ext cx="1335586" cy="472307"/>
            </a:xfrm>
            <a:prstGeom prst="rect">
              <a:avLst/>
            </a:prstGeom>
            <a:gradFill flip="none" rotWithShape="1">
              <a:gsLst>
                <a:gs pos="54000">
                  <a:schemeClr val="bg1">
                    <a:lumMod val="65000"/>
                    <a:lumOff val="35000"/>
                    <a:alpha val="0"/>
                  </a:schemeClr>
                </a:gs>
                <a:gs pos="0">
                  <a:schemeClr val="accent1">
                    <a:alpha val="54000"/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6B2AB204-7D7B-7240-41E1-EAD7B7ACB8CA}"/>
                </a:ext>
              </a:extLst>
            </p:cNvPr>
            <p:cNvSpPr/>
            <p:nvPr/>
          </p:nvSpPr>
          <p:spPr>
            <a:xfrm>
              <a:off x="3430418" y="957579"/>
              <a:ext cx="1062921" cy="536924"/>
            </a:xfrm>
            <a:prstGeom prst="roundRect">
              <a:avLst/>
            </a:prstGeom>
            <a:solidFill>
              <a:srgbClr val="32CB9D"/>
            </a:solidFill>
            <a:ln>
              <a:noFill/>
            </a:ln>
            <a:effectLst>
              <a:outerShdw blurRad="63500" dist="190500" dir="600000" sx="80000" sy="80000" algn="ctr" rotWithShape="0">
                <a:schemeClr val="bg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01</a:t>
              </a:r>
              <a:endPara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2EB346DD-E7E5-D40F-7078-ED0CDCB3DA04}"/>
              </a:ext>
            </a:extLst>
          </p:cNvPr>
          <p:cNvGrpSpPr/>
          <p:nvPr/>
        </p:nvGrpSpPr>
        <p:grpSpPr>
          <a:xfrm>
            <a:off x="3599419" y="2085359"/>
            <a:ext cx="2231381" cy="687014"/>
            <a:chOff x="3430418" y="957579"/>
            <a:chExt cx="2231381" cy="68701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9A662D8-A682-3854-733D-34864257CF50}"/>
                </a:ext>
              </a:extLst>
            </p:cNvPr>
            <p:cNvSpPr/>
            <p:nvPr/>
          </p:nvSpPr>
          <p:spPr>
            <a:xfrm rot="1151270">
              <a:off x="4326213" y="1172286"/>
              <a:ext cx="1335586" cy="472307"/>
            </a:xfrm>
            <a:prstGeom prst="rect">
              <a:avLst/>
            </a:prstGeom>
            <a:gradFill flip="none" rotWithShape="1">
              <a:gsLst>
                <a:gs pos="54000">
                  <a:schemeClr val="bg1">
                    <a:lumMod val="65000"/>
                    <a:lumOff val="35000"/>
                    <a:alpha val="0"/>
                  </a:schemeClr>
                </a:gs>
                <a:gs pos="0">
                  <a:schemeClr val="accent1">
                    <a:alpha val="54000"/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C736729-4C8D-7A79-9DAF-9B604CD70C0A}"/>
                </a:ext>
              </a:extLst>
            </p:cNvPr>
            <p:cNvSpPr/>
            <p:nvPr/>
          </p:nvSpPr>
          <p:spPr>
            <a:xfrm>
              <a:off x="3430418" y="957579"/>
              <a:ext cx="1062921" cy="536924"/>
            </a:xfrm>
            <a:prstGeom prst="roundRect">
              <a:avLst/>
            </a:prstGeom>
            <a:solidFill>
              <a:srgbClr val="32CB9D"/>
            </a:solidFill>
            <a:ln>
              <a:noFill/>
            </a:ln>
            <a:effectLst>
              <a:outerShdw blurRad="63500" dist="190500" dir="600000" sx="80000" sy="80000" algn="ctr" rotWithShape="0">
                <a:schemeClr val="bg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02</a:t>
              </a:r>
              <a:endPara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5BD5553-BC02-C977-66EB-79B332B9EC0A}"/>
              </a:ext>
            </a:extLst>
          </p:cNvPr>
          <p:cNvGrpSpPr/>
          <p:nvPr/>
        </p:nvGrpSpPr>
        <p:grpSpPr>
          <a:xfrm>
            <a:off x="3599419" y="3009885"/>
            <a:ext cx="2231381" cy="687014"/>
            <a:chOff x="3430418" y="957579"/>
            <a:chExt cx="2231381" cy="687014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43646D7-D751-D516-4C3D-CE7E24F70342}"/>
                </a:ext>
              </a:extLst>
            </p:cNvPr>
            <p:cNvSpPr/>
            <p:nvPr/>
          </p:nvSpPr>
          <p:spPr>
            <a:xfrm rot="1151270">
              <a:off x="4326213" y="1172286"/>
              <a:ext cx="1335586" cy="472307"/>
            </a:xfrm>
            <a:prstGeom prst="rect">
              <a:avLst/>
            </a:prstGeom>
            <a:gradFill flip="none" rotWithShape="1">
              <a:gsLst>
                <a:gs pos="54000">
                  <a:schemeClr val="bg1">
                    <a:lumMod val="65000"/>
                    <a:lumOff val="35000"/>
                    <a:alpha val="0"/>
                  </a:schemeClr>
                </a:gs>
                <a:gs pos="0">
                  <a:schemeClr val="accent1">
                    <a:alpha val="54000"/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851F5D0C-4A2F-236B-1A2D-AFA7CD0EAA59}"/>
                </a:ext>
              </a:extLst>
            </p:cNvPr>
            <p:cNvSpPr/>
            <p:nvPr/>
          </p:nvSpPr>
          <p:spPr>
            <a:xfrm>
              <a:off x="3430418" y="957579"/>
              <a:ext cx="1062921" cy="536924"/>
            </a:xfrm>
            <a:prstGeom prst="roundRect">
              <a:avLst/>
            </a:prstGeom>
            <a:solidFill>
              <a:srgbClr val="32CB9D"/>
            </a:solidFill>
            <a:ln>
              <a:noFill/>
            </a:ln>
            <a:effectLst>
              <a:outerShdw blurRad="63500" dist="190500" dir="600000" sx="80000" sy="80000" algn="ctr" rotWithShape="0">
                <a:schemeClr val="bg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03</a:t>
              </a:r>
              <a:endPara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AF44D27-C796-AA88-795C-0F09D2EA849E}"/>
              </a:ext>
            </a:extLst>
          </p:cNvPr>
          <p:cNvGrpSpPr/>
          <p:nvPr/>
        </p:nvGrpSpPr>
        <p:grpSpPr>
          <a:xfrm>
            <a:off x="3599419" y="3934410"/>
            <a:ext cx="2231381" cy="687014"/>
            <a:chOff x="3430418" y="957579"/>
            <a:chExt cx="2231381" cy="687014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38E291B-6202-EA20-DC53-221AD1923256}"/>
                </a:ext>
              </a:extLst>
            </p:cNvPr>
            <p:cNvSpPr/>
            <p:nvPr/>
          </p:nvSpPr>
          <p:spPr>
            <a:xfrm rot="1151270">
              <a:off x="4326213" y="1172286"/>
              <a:ext cx="1335586" cy="472307"/>
            </a:xfrm>
            <a:prstGeom prst="rect">
              <a:avLst/>
            </a:prstGeom>
            <a:gradFill flip="none" rotWithShape="1">
              <a:gsLst>
                <a:gs pos="54000">
                  <a:schemeClr val="bg1">
                    <a:lumMod val="65000"/>
                    <a:lumOff val="35000"/>
                    <a:alpha val="0"/>
                  </a:schemeClr>
                </a:gs>
                <a:gs pos="0">
                  <a:schemeClr val="accent1">
                    <a:alpha val="54000"/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70B30819-A806-C6C2-EE3D-61EE7F388FB2}"/>
                </a:ext>
              </a:extLst>
            </p:cNvPr>
            <p:cNvSpPr/>
            <p:nvPr/>
          </p:nvSpPr>
          <p:spPr>
            <a:xfrm>
              <a:off x="3430418" y="957579"/>
              <a:ext cx="1062921" cy="536924"/>
            </a:xfrm>
            <a:prstGeom prst="roundRect">
              <a:avLst/>
            </a:prstGeom>
            <a:solidFill>
              <a:srgbClr val="32CB9D"/>
            </a:solidFill>
            <a:ln>
              <a:noFill/>
            </a:ln>
            <a:effectLst>
              <a:outerShdw blurRad="63500" dist="190500" dir="600000" sx="80000" sy="80000" algn="ctr" rotWithShape="0">
                <a:schemeClr val="bg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04</a:t>
              </a:r>
              <a:endPara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1A0568A-3639-9F8B-B153-1DA5755AFE5E}"/>
              </a:ext>
            </a:extLst>
          </p:cNvPr>
          <p:cNvSpPr/>
          <p:nvPr/>
        </p:nvSpPr>
        <p:spPr>
          <a:xfrm>
            <a:off x="4892053" y="2983791"/>
            <a:ext cx="635986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7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分布式任务调度框原理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1660A5-127A-5643-1EC6-D412595AB298}"/>
              </a:ext>
            </a:extLst>
          </p:cNvPr>
          <p:cNvSpPr/>
          <p:nvPr/>
        </p:nvSpPr>
        <p:spPr>
          <a:xfrm>
            <a:off x="4911717" y="2060277"/>
            <a:ext cx="63401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754">
              <a:defRPr/>
            </a:pPr>
            <a:r>
              <a:rPr lang="zh-CN" altLang="en-US" sz="32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主流分布式任务调度框架产品对比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209D7FE-3446-7F7E-A562-C8127C0354FE}"/>
              </a:ext>
            </a:extLst>
          </p:cNvPr>
          <p:cNvSpPr txBox="1"/>
          <p:nvPr/>
        </p:nvSpPr>
        <p:spPr>
          <a:xfrm>
            <a:off x="4911717" y="3907304"/>
            <a:ext cx="48441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754">
              <a:defRPr/>
            </a:pPr>
            <a:r>
              <a:rPr lang="zh-CN" altLang="en-US" sz="32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3200" b="1" dirty="0" err="1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PowerJob</a:t>
            </a:r>
            <a:r>
              <a:rPr lang="zh-CN" altLang="en-US" sz="32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A2B4C08-8BE2-2D6D-B7D6-BECD2899FAD2}"/>
              </a:ext>
            </a:extLst>
          </p:cNvPr>
          <p:cNvSpPr/>
          <p:nvPr/>
        </p:nvSpPr>
        <p:spPr>
          <a:xfrm>
            <a:off x="4911717" y="1136763"/>
            <a:ext cx="46987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754">
              <a:defRPr/>
            </a:pPr>
            <a:r>
              <a:rPr lang="zh-CN" altLang="en-US" sz="32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分布式任务调度发展历程</a:t>
            </a:r>
          </a:p>
        </p:txBody>
      </p:sp>
      <p:sp>
        <p:nvSpPr>
          <p:cNvPr id="27" name="五边形 1">
            <a:extLst>
              <a:ext uri="{FF2B5EF4-FFF2-40B4-BE49-F238E27FC236}">
                <a16:creationId xmlns:a16="http://schemas.microsoft.com/office/drawing/2014/main" id="{B713F164-E6B6-EBE9-2D0D-C11482F7D3F9}"/>
              </a:ext>
            </a:extLst>
          </p:cNvPr>
          <p:cNvSpPr/>
          <p:nvPr/>
        </p:nvSpPr>
        <p:spPr>
          <a:xfrm>
            <a:off x="-1" y="-10800"/>
            <a:ext cx="3321799" cy="6716306"/>
          </a:xfrm>
          <a:prstGeom prst="homePlat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0786F4B0-4B77-CEE2-0F30-533A9BDEA6EF}"/>
              </a:ext>
            </a:extLst>
          </p:cNvPr>
          <p:cNvSpPr txBox="1"/>
          <p:nvPr/>
        </p:nvSpPr>
        <p:spPr>
          <a:xfrm>
            <a:off x="377340" y="3165188"/>
            <a:ext cx="313234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Agency FB" panose="020B0503020202020204" pitchFamily="34" charset="0"/>
                <a:ea typeface="微软雅黑" pitchFamily="34" charset="-122"/>
              </a:rPr>
              <a:t>CONTENTS</a:t>
            </a:r>
            <a:endParaRPr lang="zh-CN" altLang="en-US" sz="6000" dirty="0">
              <a:solidFill>
                <a:schemeClr val="bg1"/>
              </a:solidFill>
              <a:latin typeface="Agency FB" panose="020B0503020202020204" pitchFamily="34" charset="0"/>
              <a:ea typeface="微软雅黑" pitchFamily="34" charset="-122"/>
            </a:endParaRP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4C0557A2-BF30-E935-CF4B-15A753BDB817}"/>
              </a:ext>
            </a:extLst>
          </p:cNvPr>
          <p:cNvSpPr txBox="1"/>
          <p:nvPr/>
        </p:nvSpPr>
        <p:spPr>
          <a:xfrm>
            <a:off x="377341" y="2517117"/>
            <a:ext cx="2268252" cy="830997"/>
          </a:xfrm>
          <a:prstGeom prst="rect">
            <a:avLst/>
          </a:prstGeom>
          <a:noFill/>
        </p:spPr>
        <p:txBody>
          <a:bodyPr wrap="square" lIns="68576" tIns="34289" rIns="68576" bIns="34289" rtlCol="0">
            <a:spAutoFit/>
          </a:bodyPr>
          <a:lstStyle/>
          <a:p>
            <a:pPr algn="ctr"/>
            <a:r>
              <a:rPr lang="zh-CN" altLang="en-US" sz="5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08CD501-70BC-702A-0378-29F07D1AFAE2}"/>
              </a:ext>
            </a:extLst>
          </p:cNvPr>
          <p:cNvGrpSpPr/>
          <p:nvPr/>
        </p:nvGrpSpPr>
        <p:grpSpPr>
          <a:xfrm>
            <a:off x="3599419" y="4794211"/>
            <a:ext cx="2231381" cy="687014"/>
            <a:chOff x="3430418" y="957579"/>
            <a:chExt cx="2231381" cy="68701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52251FE-1FB6-52EE-618A-3C2FFDAB8EDB}"/>
                </a:ext>
              </a:extLst>
            </p:cNvPr>
            <p:cNvSpPr/>
            <p:nvPr/>
          </p:nvSpPr>
          <p:spPr>
            <a:xfrm rot="1151270">
              <a:off x="4326213" y="1172286"/>
              <a:ext cx="1335586" cy="472307"/>
            </a:xfrm>
            <a:prstGeom prst="rect">
              <a:avLst/>
            </a:prstGeom>
            <a:gradFill flip="none" rotWithShape="1">
              <a:gsLst>
                <a:gs pos="54000">
                  <a:schemeClr val="bg1">
                    <a:lumMod val="65000"/>
                    <a:lumOff val="35000"/>
                    <a:alpha val="0"/>
                  </a:schemeClr>
                </a:gs>
                <a:gs pos="0">
                  <a:schemeClr val="accent1">
                    <a:alpha val="54000"/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2EA40B9F-2BA9-3B6C-5DBF-51884CB5EF9B}"/>
                </a:ext>
              </a:extLst>
            </p:cNvPr>
            <p:cNvSpPr/>
            <p:nvPr/>
          </p:nvSpPr>
          <p:spPr>
            <a:xfrm>
              <a:off x="3430418" y="957579"/>
              <a:ext cx="1062921" cy="536924"/>
            </a:xfrm>
            <a:prstGeom prst="roundRect">
              <a:avLst/>
            </a:prstGeom>
            <a:solidFill>
              <a:srgbClr val="32CB9D"/>
            </a:solidFill>
            <a:ln>
              <a:noFill/>
            </a:ln>
            <a:effectLst>
              <a:outerShdw blurRad="63500" dist="190500" dir="600000" sx="80000" sy="80000" algn="ctr" rotWithShape="0">
                <a:schemeClr val="bg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05</a:t>
              </a:r>
              <a:endPara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989D7910-2FBA-A9E8-D46A-1DF2EF62AEBC}"/>
              </a:ext>
            </a:extLst>
          </p:cNvPr>
          <p:cNvSpPr txBox="1"/>
          <p:nvPr/>
        </p:nvSpPr>
        <p:spPr>
          <a:xfrm>
            <a:off x="4911716" y="4767105"/>
            <a:ext cx="68978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754">
              <a:defRPr/>
            </a:pPr>
            <a:r>
              <a:rPr lang="en-US" altLang="zh-CN" sz="3200" b="1" dirty="0" err="1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XxlJob</a:t>
            </a:r>
            <a:r>
              <a:rPr lang="zh-CN" altLang="en-US" sz="32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任务如何切换到</a:t>
            </a:r>
            <a:r>
              <a:rPr lang="en-US" altLang="zh-CN" sz="3200" b="1" dirty="0" err="1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PowerJob</a:t>
            </a:r>
            <a:endParaRPr lang="zh-CN" altLang="en-US" sz="3200" b="1" dirty="0">
              <a:solidFill>
                <a:srgbClr val="2429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852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44E4EBF-80EA-5208-10FE-C66E2418C52B}"/>
              </a:ext>
            </a:extLst>
          </p:cNvPr>
          <p:cNvSpPr/>
          <p:nvPr/>
        </p:nvSpPr>
        <p:spPr>
          <a:xfrm rot="1151270">
            <a:off x="305724" y="1386179"/>
            <a:ext cx="9436554" cy="5482180"/>
          </a:xfrm>
          <a:prstGeom prst="rect">
            <a:avLst/>
          </a:prstGeom>
          <a:gradFill flip="none" rotWithShape="1">
            <a:gsLst>
              <a:gs pos="54000">
                <a:schemeClr val="bg1">
                  <a:lumMod val="65000"/>
                  <a:lumOff val="35000"/>
                  <a:alpha val="0"/>
                </a:schemeClr>
              </a:gs>
              <a:gs pos="0">
                <a:schemeClr val="accent1">
                  <a:alpha val="54000"/>
                  <a:lumMod val="65000"/>
                  <a:lumOff val="35000"/>
                </a:schemeClr>
              </a:gs>
              <a:gs pos="0">
                <a:schemeClr val="bg1">
                  <a:lumMod val="75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五边形 1">
            <a:extLst>
              <a:ext uri="{FF2B5EF4-FFF2-40B4-BE49-F238E27FC236}">
                <a16:creationId xmlns:a16="http://schemas.microsoft.com/office/drawing/2014/main" id="{530913AE-FAF5-46A0-A3F7-67D9BF358772}"/>
              </a:ext>
            </a:extLst>
          </p:cNvPr>
          <p:cNvSpPr/>
          <p:nvPr/>
        </p:nvSpPr>
        <p:spPr>
          <a:xfrm>
            <a:off x="-1" y="-10800"/>
            <a:ext cx="2975021" cy="6716306"/>
          </a:xfrm>
          <a:prstGeom prst="homePlat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3E7100D-7DE1-4D90-BD41-23A28FF48204}"/>
              </a:ext>
            </a:extLst>
          </p:cNvPr>
          <p:cNvSpPr/>
          <p:nvPr/>
        </p:nvSpPr>
        <p:spPr>
          <a:xfrm>
            <a:off x="2975020" y="2684091"/>
            <a:ext cx="9216981" cy="1326523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743BF813-EB2F-4957-9C4C-58CB5699A18C}"/>
              </a:ext>
            </a:extLst>
          </p:cNvPr>
          <p:cNvSpPr txBox="1"/>
          <p:nvPr/>
        </p:nvSpPr>
        <p:spPr>
          <a:xfrm>
            <a:off x="2975020" y="2962630"/>
            <a:ext cx="9216980" cy="769443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分布式任务调度发展历程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1F165B3-DB3A-500D-B7F2-9CAF34AA2513}"/>
              </a:ext>
            </a:extLst>
          </p:cNvPr>
          <p:cNvSpPr/>
          <p:nvPr/>
        </p:nvSpPr>
        <p:spPr>
          <a:xfrm>
            <a:off x="547351" y="2483495"/>
            <a:ext cx="1880316" cy="1891010"/>
          </a:xfrm>
          <a:prstGeom prst="ellipse">
            <a:avLst/>
          </a:prstGeom>
          <a:solidFill>
            <a:schemeClr val="bg1">
              <a:lumMod val="5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7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840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EE82E94-CA15-683F-84A3-943C87244F4A}"/>
              </a:ext>
            </a:extLst>
          </p:cNvPr>
          <p:cNvSpPr txBox="1"/>
          <p:nvPr/>
        </p:nvSpPr>
        <p:spPr>
          <a:xfrm>
            <a:off x="263898" y="360000"/>
            <a:ext cx="425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>
                <a:solidFill>
                  <a:srgbClr val="26262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分布式任务调度的发展历程</a:t>
            </a:r>
            <a:endParaRPr lang="zh-CN" altLang="en-US" sz="24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C000F2-09BE-DDD4-9378-12844854F91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CE07C3-07EE-F360-3D69-5BD65B9058C7}"/>
              </a:ext>
            </a:extLst>
          </p:cNvPr>
          <p:cNvSpPr/>
          <p:nvPr/>
        </p:nvSpPr>
        <p:spPr>
          <a:xfrm>
            <a:off x="1657467" y="1932051"/>
            <a:ext cx="904569" cy="1206911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F76643-4728-AA6E-0099-02FD12D05710}"/>
              </a:ext>
            </a:extLst>
          </p:cNvPr>
          <p:cNvSpPr/>
          <p:nvPr/>
        </p:nvSpPr>
        <p:spPr>
          <a:xfrm>
            <a:off x="1750873" y="2313966"/>
            <a:ext cx="717755" cy="452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2EA3BF-ABF6-6304-541F-C9F84A957187}"/>
              </a:ext>
            </a:extLst>
          </p:cNvPr>
          <p:cNvSpPr txBox="1"/>
          <p:nvPr/>
        </p:nvSpPr>
        <p:spPr>
          <a:xfrm>
            <a:off x="1573599" y="1562718"/>
            <a:ext cx="109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Service A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6DAD39-50E6-7B97-1370-6447C4E57BE0}"/>
              </a:ext>
            </a:extLst>
          </p:cNvPr>
          <p:cNvSpPr/>
          <p:nvPr/>
        </p:nvSpPr>
        <p:spPr>
          <a:xfrm>
            <a:off x="4405581" y="1951403"/>
            <a:ext cx="904569" cy="1206911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8A08D4-4CFA-5293-9912-C25FFD89481E}"/>
              </a:ext>
            </a:extLst>
          </p:cNvPr>
          <p:cNvSpPr/>
          <p:nvPr/>
        </p:nvSpPr>
        <p:spPr>
          <a:xfrm>
            <a:off x="4511420" y="2309364"/>
            <a:ext cx="717755" cy="452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094784-41DC-69DD-462C-94C1254584FB}"/>
              </a:ext>
            </a:extLst>
          </p:cNvPr>
          <p:cNvSpPr txBox="1"/>
          <p:nvPr/>
        </p:nvSpPr>
        <p:spPr>
          <a:xfrm>
            <a:off x="4311881" y="1562718"/>
            <a:ext cx="109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Service A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E38FD7-994B-0333-B8AC-0F0EDC038B17}"/>
              </a:ext>
            </a:extLst>
          </p:cNvPr>
          <p:cNvSpPr/>
          <p:nvPr/>
        </p:nvSpPr>
        <p:spPr>
          <a:xfrm>
            <a:off x="5403555" y="1956318"/>
            <a:ext cx="904569" cy="1206911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405A13-14DF-222B-A64C-444573761DC0}"/>
              </a:ext>
            </a:extLst>
          </p:cNvPr>
          <p:cNvSpPr/>
          <p:nvPr/>
        </p:nvSpPr>
        <p:spPr>
          <a:xfrm>
            <a:off x="5484964" y="2313969"/>
            <a:ext cx="717755" cy="452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681FB99-51C6-BFE2-8491-A2D70561BC74}"/>
              </a:ext>
            </a:extLst>
          </p:cNvPr>
          <p:cNvSpPr txBox="1"/>
          <p:nvPr/>
        </p:nvSpPr>
        <p:spPr>
          <a:xfrm>
            <a:off x="5309855" y="1567633"/>
            <a:ext cx="109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Service A</a:t>
            </a:r>
          </a:p>
        </p:txBody>
      </p:sp>
      <p:sp>
        <p:nvSpPr>
          <p:cNvPr id="25" name="乘号 24">
            <a:extLst>
              <a:ext uri="{FF2B5EF4-FFF2-40B4-BE49-F238E27FC236}">
                <a16:creationId xmlns:a16="http://schemas.microsoft.com/office/drawing/2014/main" id="{43E177A0-1868-10A4-5179-31E7A945DA6C}"/>
              </a:ext>
            </a:extLst>
          </p:cNvPr>
          <p:cNvSpPr/>
          <p:nvPr/>
        </p:nvSpPr>
        <p:spPr>
          <a:xfrm>
            <a:off x="5614957" y="2553624"/>
            <a:ext cx="462117" cy="448598"/>
          </a:xfrm>
          <a:prstGeom prst="mathMultiply">
            <a:avLst/>
          </a:prstGeom>
          <a:solidFill>
            <a:srgbClr val="CE96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01C8ED3-F04D-9104-B253-19A623FE34B5}"/>
              </a:ext>
            </a:extLst>
          </p:cNvPr>
          <p:cNvSpPr/>
          <p:nvPr/>
        </p:nvSpPr>
        <p:spPr>
          <a:xfrm>
            <a:off x="6379702" y="2914037"/>
            <a:ext cx="117987" cy="117987"/>
          </a:xfrm>
          <a:prstGeom prst="ellips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532D370-2B3C-2B7A-C156-E8802525EDE9}"/>
              </a:ext>
            </a:extLst>
          </p:cNvPr>
          <p:cNvSpPr/>
          <p:nvPr/>
        </p:nvSpPr>
        <p:spPr>
          <a:xfrm>
            <a:off x="6540852" y="2914037"/>
            <a:ext cx="117987" cy="117987"/>
          </a:xfrm>
          <a:prstGeom prst="ellips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9381E5AD-FD20-C052-DDA7-C641E692F02E}"/>
              </a:ext>
            </a:extLst>
          </p:cNvPr>
          <p:cNvSpPr/>
          <p:nvPr/>
        </p:nvSpPr>
        <p:spPr>
          <a:xfrm>
            <a:off x="6702002" y="2914037"/>
            <a:ext cx="117987" cy="117987"/>
          </a:xfrm>
          <a:prstGeom prst="ellips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03EF9D1-DE59-9DDC-D707-1DA4A2361164}"/>
              </a:ext>
            </a:extLst>
          </p:cNvPr>
          <p:cNvSpPr/>
          <p:nvPr/>
        </p:nvSpPr>
        <p:spPr>
          <a:xfrm>
            <a:off x="8268285" y="1960921"/>
            <a:ext cx="904569" cy="77674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430FAC6-9930-BBCB-9F0C-C5D77C10EDB0}"/>
              </a:ext>
            </a:extLst>
          </p:cNvPr>
          <p:cNvSpPr/>
          <p:nvPr/>
        </p:nvSpPr>
        <p:spPr>
          <a:xfrm>
            <a:off x="8361690" y="2142817"/>
            <a:ext cx="717755" cy="452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2C3CB6-75D9-2A12-0CCA-9032AB9A9EE4}"/>
              </a:ext>
            </a:extLst>
          </p:cNvPr>
          <p:cNvSpPr txBox="1"/>
          <p:nvPr/>
        </p:nvSpPr>
        <p:spPr>
          <a:xfrm>
            <a:off x="8174585" y="1572236"/>
            <a:ext cx="109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Service A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82A2C91-1831-7009-7435-504ED8841C4A}"/>
              </a:ext>
            </a:extLst>
          </p:cNvPr>
          <p:cNvSpPr/>
          <p:nvPr/>
        </p:nvSpPr>
        <p:spPr>
          <a:xfrm>
            <a:off x="9266259" y="1965837"/>
            <a:ext cx="904569" cy="771832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A7B8E18-EF0F-A646-5455-DED4E7CD3B66}"/>
              </a:ext>
            </a:extLst>
          </p:cNvPr>
          <p:cNvSpPr/>
          <p:nvPr/>
        </p:nvSpPr>
        <p:spPr>
          <a:xfrm>
            <a:off x="9359664" y="2121926"/>
            <a:ext cx="717755" cy="452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E2CE6A-B0D6-6960-DCF6-45A7F59F9022}"/>
              </a:ext>
            </a:extLst>
          </p:cNvPr>
          <p:cNvSpPr txBox="1"/>
          <p:nvPr/>
        </p:nvSpPr>
        <p:spPr>
          <a:xfrm>
            <a:off x="9172559" y="1577151"/>
            <a:ext cx="109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Service A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52E13C89-6C8D-0939-F013-23EB4D08C1F0}"/>
              </a:ext>
            </a:extLst>
          </p:cNvPr>
          <p:cNvSpPr/>
          <p:nvPr/>
        </p:nvSpPr>
        <p:spPr>
          <a:xfrm>
            <a:off x="10259319" y="2581880"/>
            <a:ext cx="117987" cy="117987"/>
          </a:xfrm>
          <a:prstGeom prst="ellips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37FF079A-3DFF-5767-2EAA-EB4C220406C6}"/>
              </a:ext>
            </a:extLst>
          </p:cNvPr>
          <p:cNvSpPr/>
          <p:nvPr/>
        </p:nvSpPr>
        <p:spPr>
          <a:xfrm>
            <a:off x="10420469" y="2581880"/>
            <a:ext cx="117987" cy="117987"/>
          </a:xfrm>
          <a:prstGeom prst="ellips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14AEEB5-9F98-74FF-267F-486BA8BD3EC5}"/>
              </a:ext>
            </a:extLst>
          </p:cNvPr>
          <p:cNvSpPr/>
          <p:nvPr/>
        </p:nvSpPr>
        <p:spPr>
          <a:xfrm>
            <a:off x="10581619" y="2581880"/>
            <a:ext cx="117987" cy="117987"/>
          </a:xfrm>
          <a:prstGeom prst="ellips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1655927-7F83-72FC-B9D1-164F5CBB433F}"/>
              </a:ext>
            </a:extLst>
          </p:cNvPr>
          <p:cNvSpPr/>
          <p:nvPr/>
        </p:nvSpPr>
        <p:spPr>
          <a:xfrm>
            <a:off x="8263081" y="2827997"/>
            <a:ext cx="2431616" cy="369332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分布式锁</a:t>
            </a:r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66BF70A0-1B3C-5B76-8116-EF9C09999862}"/>
              </a:ext>
            </a:extLst>
          </p:cNvPr>
          <p:cNvSpPr/>
          <p:nvPr/>
        </p:nvSpPr>
        <p:spPr>
          <a:xfrm>
            <a:off x="3171646" y="2302474"/>
            <a:ext cx="683980" cy="439320"/>
          </a:xfrm>
          <a:prstGeom prst="rightArrow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4506B75B-24A2-42C0-0D4D-DA5C2FFD9F8B}"/>
              </a:ext>
            </a:extLst>
          </p:cNvPr>
          <p:cNvSpPr/>
          <p:nvPr/>
        </p:nvSpPr>
        <p:spPr>
          <a:xfrm>
            <a:off x="7093336" y="2277866"/>
            <a:ext cx="683980" cy="439320"/>
          </a:xfrm>
          <a:prstGeom prst="rightArrow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A6BD01DD-C9B9-C11C-D404-44E26732F8CD}"/>
              </a:ext>
            </a:extLst>
          </p:cNvPr>
          <p:cNvSpPr/>
          <p:nvPr/>
        </p:nvSpPr>
        <p:spPr>
          <a:xfrm>
            <a:off x="1786238" y="4476371"/>
            <a:ext cx="683980" cy="439320"/>
          </a:xfrm>
          <a:prstGeom prst="rightArrow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208130-9213-4067-EA7B-4CE662E7073A}"/>
              </a:ext>
            </a:extLst>
          </p:cNvPr>
          <p:cNvSpPr/>
          <p:nvPr/>
        </p:nvSpPr>
        <p:spPr>
          <a:xfrm>
            <a:off x="4463842" y="4189921"/>
            <a:ext cx="904569" cy="123640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6092D0F-D035-1634-E780-3E58A4F49CC4}"/>
              </a:ext>
            </a:extLst>
          </p:cNvPr>
          <p:cNvSpPr txBox="1"/>
          <p:nvPr/>
        </p:nvSpPr>
        <p:spPr>
          <a:xfrm>
            <a:off x="4370142" y="3801236"/>
            <a:ext cx="109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Service A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2BF5B6-D54B-685C-2DB3-DC28E4E47786}"/>
              </a:ext>
            </a:extLst>
          </p:cNvPr>
          <p:cNvSpPr/>
          <p:nvPr/>
        </p:nvSpPr>
        <p:spPr>
          <a:xfrm>
            <a:off x="5461816" y="4194836"/>
            <a:ext cx="904569" cy="1231493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A6F22C4-0A64-60C1-B245-09BFB820FC45}"/>
              </a:ext>
            </a:extLst>
          </p:cNvPr>
          <p:cNvSpPr txBox="1"/>
          <p:nvPr/>
        </p:nvSpPr>
        <p:spPr>
          <a:xfrm>
            <a:off x="5368116" y="3806151"/>
            <a:ext cx="107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Service B</a:t>
            </a: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D2AB6D32-3E72-9FF0-D257-CC5FE10274FA}"/>
              </a:ext>
            </a:extLst>
          </p:cNvPr>
          <p:cNvSpPr/>
          <p:nvPr/>
        </p:nvSpPr>
        <p:spPr>
          <a:xfrm>
            <a:off x="6446361" y="5245962"/>
            <a:ext cx="117987" cy="117987"/>
          </a:xfrm>
          <a:prstGeom prst="ellips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608074DE-6BE4-05BC-5BB2-891439ADD149}"/>
              </a:ext>
            </a:extLst>
          </p:cNvPr>
          <p:cNvSpPr/>
          <p:nvPr/>
        </p:nvSpPr>
        <p:spPr>
          <a:xfrm>
            <a:off x="6607511" y="5245962"/>
            <a:ext cx="117987" cy="117987"/>
          </a:xfrm>
          <a:prstGeom prst="ellips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D7CFAFAE-EE93-E682-C98D-7EEA186CFD3F}"/>
              </a:ext>
            </a:extLst>
          </p:cNvPr>
          <p:cNvSpPr/>
          <p:nvPr/>
        </p:nvSpPr>
        <p:spPr>
          <a:xfrm>
            <a:off x="6768661" y="5245962"/>
            <a:ext cx="117987" cy="117987"/>
          </a:xfrm>
          <a:prstGeom prst="ellips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AC49429-683A-F25D-EEFF-3EB984C8EFF3}"/>
              </a:ext>
            </a:extLst>
          </p:cNvPr>
          <p:cNvSpPr/>
          <p:nvPr/>
        </p:nvSpPr>
        <p:spPr>
          <a:xfrm>
            <a:off x="3197169" y="5056997"/>
            <a:ext cx="1160381" cy="369332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分布式锁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03FF6B3-6592-CB39-D51C-55C8F27DE8E8}"/>
              </a:ext>
            </a:extLst>
          </p:cNvPr>
          <p:cNvSpPr/>
          <p:nvPr/>
        </p:nvSpPr>
        <p:spPr>
          <a:xfrm>
            <a:off x="3197169" y="4189921"/>
            <a:ext cx="1160381" cy="771832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CDE8133-B491-4668-E17B-6E73364520A8}"/>
              </a:ext>
            </a:extLst>
          </p:cNvPr>
          <p:cNvSpPr txBox="1"/>
          <p:nvPr/>
        </p:nvSpPr>
        <p:spPr>
          <a:xfrm>
            <a:off x="3077406" y="3818717"/>
            <a:ext cx="1479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Service Task</a:t>
            </a:r>
          </a:p>
        </p:txBody>
      </p:sp>
      <p:sp>
        <p:nvSpPr>
          <p:cNvPr id="67" name="箭头: 右 66">
            <a:extLst>
              <a:ext uri="{FF2B5EF4-FFF2-40B4-BE49-F238E27FC236}">
                <a16:creationId xmlns:a16="http://schemas.microsoft.com/office/drawing/2014/main" id="{E640E148-B1C0-9FBA-140B-D015898CB639}"/>
              </a:ext>
            </a:extLst>
          </p:cNvPr>
          <p:cNvSpPr/>
          <p:nvPr/>
        </p:nvSpPr>
        <p:spPr>
          <a:xfrm>
            <a:off x="7093336" y="4443776"/>
            <a:ext cx="683980" cy="439320"/>
          </a:xfrm>
          <a:prstGeom prst="rightArrow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A82B3D4-9041-B73F-3DE3-9315E51EC018}"/>
              </a:ext>
            </a:extLst>
          </p:cNvPr>
          <p:cNvSpPr/>
          <p:nvPr/>
        </p:nvSpPr>
        <p:spPr>
          <a:xfrm>
            <a:off x="8352214" y="4186994"/>
            <a:ext cx="904569" cy="810649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0E625A6-05D9-8576-8927-676E498880FE}"/>
              </a:ext>
            </a:extLst>
          </p:cNvPr>
          <p:cNvSpPr txBox="1"/>
          <p:nvPr/>
        </p:nvSpPr>
        <p:spPr>
          <a:xfrm>
            <a:off x="8258514" y="3798310"/>
            <a:ext cx="109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Service A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01DC276-8B68-0201-266D-1B23D119E301}"/>
              </a:ext>
            </a:extLst>
          </p:cNvPr>
          <p:cNvSpPr/>
          <p:nvPr/>
        </p:nvSpPr>
        <p:spPr>
          <a:xfrm>
            <a:off x="9350188" y="4191910"/>
            <a:ext cx="904569" cy="805733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0F65CDF-114B-BA13-F6EB-9DE310981D09}"/>
              </a:ext>
            </a:extLst>
          </p:cNvPr>
          <p:cNvSpPr txBox="1"/>
          <p:nvPr/>
        </p:nvSpPr>
        <p:spPr>
          <a:xfrm>
            <a:off x="9256488" y="3803225"/>
            <a:ext cx="107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Service B</a:t>
            </a:r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DEB1C659-C9C8-270F-1CA8-28F7A52B7CB7}"/>
              </a:ext>
            </a:extLst>
          </p:cNvPr>
          <p:cNvSpPr/>
          <p:nvPr/>
        </p:nvSpPr>
        <p:spPr>
          <a:xfrm>
            <a:off x="10300617" y="4820292"/>
            <a:ext cx="117987" cy="117987"/>
          </a:xfrm>
          <a:prstGeom prst="ellips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0B9EA6F4-4F72-64BD-8402-40A0F3803431}"/>
              </a:ext>
            </a:extLst>
          </p:cNvPr>
          <p:cNvSpPr/>
          <p:nvPr/>
        </p:nvSpPr>
        <p:spPr>
          <a:xfrm>
            <a:off x="10499179" y="4813753"/>
            <a:ext cx="117987" cy="117987"/>
          </a:xfrm>
          <a:prstGeom prst="ellips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C56F7953-1FCD-3AB0-4D8B-B2B1354C622F}"/>
              </a:ext>
            </a:extLst>
          </p:cNvPr>
          <p:cNvSpPr/>
          <p:nvPr/>
        </p:nvSpPr>
        <p:spPr>
          <a:xfrm>
            <a:off x="10660329" y="4813753"/>
            <a:ext cx="117987" cy="117987"/>
          </a:xfrm>
          <a:prstGeom prst="ellips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13ADE05-5629-1045-711F-036CAFBD6F8E}"/>
              </a:ext>
            </a:extLst>
          </p:cNvPr>
          <p:cNvSpPr/>
          <p:nvPr/>
        </p:nvSpPr>
        <p:spPr>
          <a:xfrm>
            <a:off x="8445911" y="4378101"/>
            <a:ext cx="717755" cy="452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D53D5A0-5095-EE37-C108-CC93E8CD0A6F}"/>
              </a:ext>
            </a:extLst>
          </p:cNvPr>
          <p:cNvSpPr/>
          <p:nvPr/>
        </p:nvSpPr>
        <p:spPr>
          <a:xfrm>
            <a:off x="9443885" y="4350854"/>
            <a:ext cx="717755" cy="452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B310E04-C5BA-6358-DECE-7B21F85823B9}"/>
              </a:ext>
            </a:extLst>
          </p:cNvPr>
          <p:cNvSpPr/>
          <p:nvPr/>
        </p:nvSpPr>
        <p:spPr>
          <a:xfrm>
            <a:off x="8342920" y="5043624"/>
            <a:ext cx="2431616" cy="369332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分布式任务平台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81E25C2-41CB-5321-6EAB-9216F654AFF5}"/>
              </a:ext>
            </a:extLst>
          </p:cNvPr>
          <p:cNvSpPr/>
          <p:nvPr/>
        </p:nvSpPr>
        <p:spPr>
          <a:xfrm>
            <a:off x="4557247" y="4479457"/>
            <a:ext cx="717755" cy="452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5012854-C9F5-F856-4D4B-609A71B6B2CC}"/>
              </a:ext>
            </a:extLst>
          </p:cNvPr>
          <p:cNvSpPr/>
          <p:nvPr/>
        </p:nvSpPr>
        <p:spPr>
          <a:xfrm>
            <a:off x="5545514" y="4466995"/>
            <a:ext cx="717755" cy="452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CEF8061-B744-4843-E9DD-2FA0DA305963}"/>
              </a:ext>
            </a:extLst>
          </p:cNvPr>
          <p:cNvSpPr/>
          <p:nvPr/>
        </p:nvSpPr>
        <p:spPr>
          <a:xfrm>
            <a:off x="3418481" y="4366176"/>
            <a:ext cx="717755" cy="452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E0D0F2-87C9-0135-BA4D-54A3A4574F6E}"/>
              </a:ext>
            </a:extLst>
          </p:cNvPr>
          <p:cNvSpPr txBox="1"/>
          <p:nvPr/>
        </p:nvSpPr>
        <p:spPr>
          <a:xfrm>
            <a:off x="272526" y="975156"/>
            <a:ext cx="99405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随着系统从单机到分布式（单机</a:t>
            </a:r>
            <a:r>
              <a:rPr lang="en-US" altLang="zh-CN" sz="1400" dirty="0"/>
              <a:t>&gt;</a:t>
            </a:r>
            <a:r>
              <a:rPr lang="zh-CN" altLang="en-US" sz="1400" dirty="0"/>
              <a:t>集群</a:t>
            </a:r>
            <a:r>
              <a:rPr lang="en-US" altLang="zh-CN" sz="1400" dirty="0"/>
              <a:t>&gt;</a:t>
            </a:r>
            <a:r>
              <a:rPr lang="zh-CN" altLang="en-US" sz="1400" dirty="0"/>
              <a:t>分布式）演变，导致系统批处理的需求不断的变化，使得批处理方案也跟随的演变。</a:t>
            </a:r>
          </a:p>
        </p:txBody>
      </p:sp>
    </p:spTree>
    <p:extLst>
      <p:ext uri="{BB962C8B-B14F-4D97-AF65-F5344CB8AC3E}">
        <p14:creationId xmlns:p14="http://schemas.microsoft.com/office/powerpoint/2010/main" val="5339231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44E4EBF-80EA-5208-10FE-C66E2418C52B}"/>
              </a:ext>
            </a:extLst>
          </p:cNvPr>
          <p:cNvSpPr/>
          <p:nvPr/>
        </p:nvSpPr>
        <p:spPr>
          <a:xfrm rot="1151270">
            <a:off x="305724" y="1386179"/>
            <a:ext cx="9436554" cy="5482180"/>
          </a:xfrm>
          <a:prstGeom prst="rect">
            <a:avLst/>
          </a:prstGeom>
          <a:gradFill flip="none" rotWithShape="1">
            <a:gsLst>
              <a:gs pos="54000">
                <a:schemeClr val="bg1">
                  <a:lumMod val="65000"/>
                  <a:lumOff val="35000"/>
                  <a:alpha val="0"/>
                </a:schemeClr>
              </a:gs>
              <a:gs pos="0">
                <a:schemeClr val="accent1">
                  <a:alpha val="54000"/>
                  <a:lumMod val="65000"/>
                  <a:lumOff val="35000"/>
                </a:schemeClr>
              </a:gs>
              <a:gs pos="0">
                <a:schemeClr val="bg1">
                  <a:lumMod val="75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五边形 1">
            <a:extLst>
              <a:ext uri="{FF2B5EF4-FFF2-40B4-BE49-F238E27FC236}">
                <a16:creationId xmlns:a16="http://schemas.microsoft.com/office/drawing/2014/main" id="{530913AE-FAF5-46A0-A3F7-67D9BF358772}"/>
              </a:ext>
            </a:extLst>
          </p:cNvPr>
          <p:cNvSpPr/>
          <p:nvPr/>
        </p:nvSpPr>
        <p:spPr>
          <a:xfrm>
            <a:off x="-1" y="-10800"/>
            <a:ext cx="2975021" cy="6716306"/>
          </a:xfrm>
          <a:prstGeom prst="homePlat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3E7100D-7DE1-4D90-BD41-23A28FF48204}"/>
              </a:ext>
            </a:extLst>
          </p:cNvPr>
          <p:cNvSpPr/>
          <p:nvPr/>
        </p:nvSpPr>
        <p:spPr>
          <a:xfrm>
            <a:off x="2975020" y="2684091"/>
            <a:ext cx="9216981" cy="1326523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743BF813-EB2F-4957-9C4C-58CB5699A18C}"/>
              </a:ext>
            </a:extLst>
          </p:cNvPr>
          <p:cNvSpPr txBox="1"/>
          <p:nvPr/>
        </p:nvSpPr>
        <p:spPr>
          <a:xfrm>
            <a:off x="2975020" y="2962630"/>
            <a:ext cx="9216980" cy="769443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主流分布式任务调度产品对比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1F165B3-DB3A-500D-B7F2-9CAF34AA2513}"/>
              </a:ext>
            </a:extLst>
          </p:cNvPr>
          <p:cNvSpPr/>
          <p:nvPr/>
        </p:nvSpPr>
        <p:spPr>
          <a:xfrm>
            <a:off x="547351" y="2483495"/>
            <a:ext cx="1880316" cy="1891010"/>
          </a:xfrm>
          <a:prstGeom prst="ellipse">
            <a:avLst/>
          </a:prstGeom>
          <a:solidFill>
            <a:schemeClr val="bg1">
              <a:lumMod val="5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7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588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41BD72-633B-4F7D-B978-B7153FDC61B1}"/>
              </a:ext>
            </a:extLst>
          </p:cNvPr>
          <p:cNvSpPr txBox="1"/>
          <p:nvPr/>
        </p:nvSpPr>
        <p:spPr>
          <a:xfrm>
            <a:off x="263898" y="360000"/>
            <a:ext cx="425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分布式产品对比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7832E-8838-ED43-F100-B37FA2C49B9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graphicFrame>
        <p:nvGraphicFramePr>
          <p:cNvPr id="8" name="表格 2">
            <a:extLst>
              <a:ext uri="{FF2B5EF4-FFF2-40B4-BE49-F238E27FC236}">
                <a16:creationId xmlns:a16="http://schemas.microsoft.com/office/drawing/2014/main" id="{FB62CF32-1DED-4AAD-1A39-74B0CA39E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107739"/>
              </p:ext>
            </p:extLst>
          </p:nvPr>
        </p:nvGraphicFramePr>
        <p:xfrm>
          <a:off x="674241" y="937854"/>
          <a:ext cx="10804190" cy="555469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48384">
                  <a:extLst>
                    <a:ext uri="{9D8B030D-6E8A-4147-A177-3AD203B41FA5}">
                      <a16:colId xmlns:a16="http://schemas.microsoft.com/office/drawing/2014/main" val="2609495232"/>
                    </a:ext>
                  </a:extLst>
                </a:gridCol>
                <a:gridCol w="1949242">
                  <a:extLst>
                    <a:ext uri="{9D8B030D-6E8A-4147-A177-3AD203B41FA5}">
                      <a16:colId xmlns:a16="http://schemas.microsoft.com/office/drawing/2014/main" val="3047164405"/>
                    </a:ext>
                  </a:extLst>
                </a:gridCol>
                <a:gridCol w="1890762">
                  <a:extLst>
                    <a:ext uri="{9D8B030D-6E8A-4147-A177-3AD203B41FA5}">
                      <a16:colId xmlns:a16="http://schemas.microsoft.com/office/drawing/2014/main" val="3505860319"/>
                    </a:ext>
                  </a:extLst>
                </a:gridCol>
                <a:gridCol w="1799800">
                  <a:extLst>
                    <a:ext uri="{9D8B030D-6E8A-4147-A177-3AD203B41FA5}">
                      <a16:colId xmlns:a16="http://schemas.microsoft.com/office/drawing/2014/main" val="3511396714"/>
                    </a:ext>
                  </a:extLst>
                </a:gridCol>
                <a:gridCol w="1799800">
                  <a:extLst>
                    <a:ext uri="{9D8B030D-6E8A-4147-A177-3AD203B41FA5}">
                      <a16:colId xmlns:a16="http://schemas.microsoft.com/office/drawing/2014/main" val="460610391"/>
                    </a:ext>
                  </a:extLst>
                </a:gridCol>
                <a:gridCol w="1916202">
                  <a:extLst>
                    <a:ext uri="{9D8B030D-6E8A-4147-A177-3AD203B41FA5}">
                      <a16:colId xmlns:a16="http://schemas.microsoft.com/office/drawing/2014/main" val="29767417"/>
                    </a:ext>
                  </a:extLst>
                </a:gridCol>
              </a:tblGrid>
              <a:tr h="6251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项目名</a:t>
                      </a:r>
                      <a:endParaRPr lang="zh-CN" altLang="en-US" sz="1800" b="1" i="0" kern="1200" dirty="0">
                        <a:solidFill>
                          <a:schemeClr val="l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 err="1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PowerJob</a:t>
                      </a:r>
                      <a:endParaRPr lang="en-US" altLang="zh-CN" sz="1800" b="1" i="0" kern="1200" dirty="0">
                        <a:solidFill>
                          <a:schemeClr val="l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QuartZ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Elastic-Job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xxl</a:t>
                      </a:r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-job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SchedulerX</a:t>
                      </a:r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2.0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72929"/>
                  </a:ext>
                </a:extLst>
              </a:tr>
              <a:tr h="6905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定时类型</a:t>
                      </a:r>
                      <a:endParaRPr lang="zh-CN" altLang="en-US" sz="14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CRON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、固定频率、固定延迟、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OpenAPI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CRON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CRON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Rest API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CRON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CRON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、固定频率、固定延迟、</a:t>
                      </a:r>
                      <a:r>
                        <a:rPr lang="en-US" altLang="zh-CN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OpenAPI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194732"/>
                  </a:ext>
                </a:extLst>
              </a:tr>
              <a:tr h="714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任务类型</a:t>
                      </a:r>
                      <a:endParaRPr lang="zh-CN" altLang="en-US" sz="14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内置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、外置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（容器）、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Shell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内置</a:t>
                      </a:r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Shell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内置</a:t>
                      </a:r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GLUE Java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Shell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内置</a:t>
                      </a:r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、外置</a:t>
                      </a:r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FatJar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）、</a:t>
                      </a:r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Shell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558437"/>
                  </a:ext>
                </a:extLst>
              </a:tr>
              <a:tr h="5060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分布式任务</a:t>
                      </a:r>
                      <a:endParaRPr lang="zh-CN" altLang="en-US" sz="14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MapReduce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动态分片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静态分片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静态分片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MapReduce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动态分片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9662786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在线任务治理</a:t>
                      </a:r>
                      <a:endParaRPr lang="zh-CN" altLang="en-US" sz="14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646097"/>
                  </a:ext>
                </a:extLst>
              </a:tr>
              <a:tr h="3673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日志白屏化</a:t>
                      </a:r>
                      <a:endParaRPr lang="zh-CN" altLang="en-US" sz="14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不支持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5927444"/>
                  </a:ext>
                </a:extLst>
              </a:tr>
              <a:tr h="5979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调度方式及性能</a:t>
                      </a:r>
                      <a:endParaRPr lang="zh-CN" altLang="en-US" sz="14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无锁化设计，性能强劲无上限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基于数据库锁，有性能瓶颈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Zk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分布式锁，无中心化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基于数据库锁，有性能瓶颈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497992"/>
                  </a:ext>
                </a:extLst>
              </a:tr>
              <a:tr h="5060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报警监控</a:t>
                      </a:r>
                      <a:endParaRPr lang="zh-CN" altLang="en-US" sz="14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邮件，提供接口允许开发者扩展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邮件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短信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724140"/>
                  </a:ext>
                </a:extLst>
              </a:tr>
              <a:tr h="6905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系统依赖</a:t>
                      </a:r>
                      <a:endParaRPr lang="zh-CN" altLang="en-US" sz="14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任意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Spring Data 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Jpa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支持的关系型数据库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关系型数据库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数据库、</a:t>
                      </a:r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zk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集群、控制台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MySQL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人民币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909817"/>
                  </a:ext>
                </a:extLst>
              </a:tr>
              <a:tr h="3420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DAG</a:t>
                      </a: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工作流</a:t>
                      </a:r>
                      <a:endParaRPr lang="zh-CN" altLang="en-US" sz="14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4210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B5556A56-C4B4-363C-4D9E-592834DF4FF5}"/>
              </a:ext>
            </a:extLst>
          </p:cNvPr>
          <p:cNvSpPr txBox="1"/>
          <p:nvPr/>
        </p:nvSpPr>
        <p:spPr>
          <a:xfrm>
            <a:off x="3774141" y="148955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F42CC7-F0CB-4802-0ADA-03BA98469040}"/>
              </a:ext>
            </a:extLst>
          </p:cNvPr>
          <p:cNvSpPr txBox="1"/>
          <p:nvPr/>
        </p:nvSpPr>
        <p:spPr>
          <a:xfrm>
            <a:off x="11148747" y="148955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EDD5CA-040A-D205-A91A-6F95ECB6E42E}"/>
              </a:ext>
            </a:extLst>
          </p:cNvPr>
          <p:cNvSpPr txBox="1"/>
          <p:nvPr/>
        </p:nvSpPr>
        <p:spPr>
          <a:xfrm>
            <a:off x="7441780" y="148955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1297C9-B371-E853-9AB7-BD63F3371DD5}"/>
              </a:ext>
            </a:extLst>
          </p:cNvPr>
          <p:cNvSpPr txBox="1"/>
          <p:nvPr/>
        </p:nvSpPr>
        <p:spPr>
          <a:xfrm>
            <a:off x="3774141" y="2197766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892D72-0E3A-52DC-1932-D1904D09A6A6}"/>
              </a:ext>
            </a:extLst>
          </p:cNvPr>
          <p:cNvSpPr txBox="1"/>
          <p:nvPr/>
        </p:nvSpPr>
        <p:spPr>
          <a:xfrm>
            <a:off x="9275599" y="2197766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0CD3A9-8F03-30CF-1026-803B5658374E}"/>
              </a:ext>
            </a:extLst>
          </p:cNvPr>
          <p:cNvSpPr txBox="1"/>
          <p:nvPr/>
        </p:nvSpPr>
        <p:spPr>
          <a:xfrm>
            <a:off x="11148747" y="2197766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85CEA93-C29D-DD5F-9541-5AFC0650F7D2}"/>
              </a:ext>
            </a:extLst>
          </p:cNvPr>
          <p:cNvSpPr txBox="1"/>
          <p:nvPr/>
        </p:nvSpPr>
        <p:spPr>
          <a:xfrm>
            <a:off x="3774141" y="2910584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27A1DC-1DEB-B0CC-1CDC-069C24A7CAE8}"/>
              </a:ext>
            </a:extLst>
          </p:cNvPr>
          <p:cNvSpPr txBox="1"/>
          <p:nvPr/>
        </p:nvSpPr>
        <p:spPr>
          <a:xfrm>
            <a:off x="7441780" y="2910584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4FEDBB-FC16-8BFE-2D8E-7BA5DC31C399}"/>
              </a:ext>
            </a:extLst>
          </p:cNvPr>
          <p:cNvSpPr txBox="1"/>
          <p:nvPr/>
        </p:nvSpPr>
        <p:spPr>
          <a:xfrm>
            <a:off x="9275599" y="2910584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E627A1DC-1DEB-B0CC-1CDC-069C24A7CAE8}"/>
              </a:ext>
            </a:extLst>
          </p:cNvPr>
          <p:cNvSpPr txBox="1"/>
          <p:nvPr/>
        </p:nvSpPr>
        <p:spPr>
          <a:xfrm>
            <a:off x="11148747" y="2910584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29C054-1093-5E28-22DF-6265A9DD5D08}"/>
              </a:ext>
            </a:extLst>
          </p:cNvPr>
          <p:cNvSpPr txBox="1"/>
          <p:nvPr/>
        </p:nvSpPr>
        <p:spPr>
          <a:xfrm>
            <a:off x="3774141" y="341839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E4ADA9-892D-2EAA-7FE4-87E009F9DA0E}"/>
              </a:ext>
            </a:extLst>
          </p:cNvPr>
          <p:cNvSpPr txBox="1"/>
          <p:nvPr/>
        </p:nvSpPr>
        <p:spPr>
          <a:xfrm>
            <a:off x="7441780" y="341839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7" name="文本框 14">
            <a:extLst>
              <a:ext uri="{FF2B5EF4-FFF2-40B4-BE49-F238E27FC236}">
                <a16:creationId xmlns:a16="http://schemas.microsoft.com/office/drawing/2014/main" id="{3A29C054-1093-5E28-22DF-6265A9DD5D08}"/>
              </a:ext>
            </a:extLst>
          </p:cNvPr>
          <p:cNvSpPr txBox="1"/>
          <p:nvPr/>
        </p:nvSpPr>
        <p:spPr>
          <a:xfrm>
            <a:off x="9275599" y="341839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8" name="文本框 14">
            <a:extLst>
              <a:ext uri="{FF2B5EF4-FFF2-40B4-BE49-F238E27FC236}">
                <a16:creationId xmlns:a16="http://schemas.microsoft.com/office/drawing/2014/main" id="{3A29C054-1093-5E28-22DF-6265A9DD5D08}"/>
              </a:ext>
            </a:extLst>
          </p:cNvPr>
          <p:cNvSpPr txBox="1"/>
          <p:nvPr/>
        </p:nvSpPr>
        <p:spPr>
          <a:xfrm>
            <a:off x="11148747" y="341839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9" name="文本框 14">
            <a:extLst>
              <a:ext uri="{FF2B5EF4-FFF2-40B4-BE49-F238E27FC236}">
                <a16:creationId xmlns:a16="http://schemas.microsoft.com/office/drawing/2014/main" id="{3A29C054-1093-5E28-22DF-6265A9DD5D08}"/>
              </a:ext>
            </a:extLst>
          </p:cNvPr>
          <p:cNvSpPr txBox="1"/>
          <p:nvPr/>
        </p:nvSpPr>
        <p:spPr>
          <a:xfrm>
            <a:off x="3774141" y="3914521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0" name="文本框 14">
            <a:extLst>
              <a:ext uri="{FF2B5EF4-FFF2-40B4-BE49-F238E27FC236}">
                <a16:creationId xmlns:a16="http://schemas.microsoft.com/office/drawing/2014/main" id="{3A29C054-1093-5E28-22DF-6265A9DD5D08}"/>
              </a:ext>
            </a:extLst>
          </p:cNvPr>
          <p:cNvSpPr txBox="1"/>
          <p:nvPr/>
        </p:nvSpPr>
        <p:spPr>
          <a:xfrm>
            <a:off x="7441780" y="3914521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1" name="文本框 14">
            <a:extLst>
              <a:ext uri="{FF2B5EF4-FFF2-40B4-BE49-F238E27FC236}">
                <a16:creationId xmlns:a16="http://schemas.microsoft.com/office/drawing/2014/main" id="{727771AB-893D-0F6A-8F2B-F996EF6C7BD2}"/>
              </a:ext>
            </a:extLst>
          </p:cNvPr>
          <p:cNvSpPr txBox="1"/>
          <p:nvPr/>
        </p:nvSpPr>
        <p:spPr>
          <a:xfrm>
            <a:off x="9275599" y="3914521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2" name="文本框 14">
            <a:extLst>
              <a:ext uri="{FF2B5EF4-FFF2-40B4-BE49-F238E27FC236}">
                <a16:creationId xmlns:a16="http://schemas.microsoft.com/office/drawing/2014/main" id="{1C313671-73E2-364B-FD41-EF1F25BE32FB}"/>
              </a:ext>
            </a:extLst>
          </p:cNvPr>
          <p:cNvSpPr txBox="1"/>
          <p:nvPr/>
        </p:nvSpPr>
        <p:spPr>
          <a:xfrm>
            <a:off x="3774141" y="428385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3" name="文本框 14">
            <a:extLst>
              <a:ext uri="{FF2B5EF4-FFF2-40B4-BE49-F238E27FC236}">
                <a16:creationId xmlns:a16="http://schemas.microsoft.com/office/drawing/2014/main" id="{4F29EA2B-2AC6-F523-D92B-38CF949AFDCA}"/>
              </a:ext>
            </a:extLst>
          </p:cNvPr>
          <p:cNvSpPr txBox="1"/>
          <p:nvPr/>
        </p:nvSpPr>
        <p:spPr>
          <a:xfrm>
            <a:off x="7441780" y="428385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4" name="文本框 14">
            <a:extLst>
              <a:ext uri="{FF2B5EF4-FFF2-40B4-BE49-F238E27FC236}">
                <a16:creationId xmlns:a16="http://schemas.microsoft.com/office/drawing/2014/main" id="{324E0497-F634-1D90-E65C-5F3425F11297}"/>
              </a:ext>
            </a:extLst>
          </p:cNvPr>
          <p:cNvSpPr txBox="1"/>
          <p:nvPr/>
        </p:nvSpPr>
        <p:spPr>
          <a:xfrm>
            <a:off x="9275599" y="428385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5" name="文本框 14">
            <a:extLst>
              <a:ext uri="{FF2B5EF4-FFF2-40B4-BE49-F238E27FC236}">
                <a16:creationId xmlns:a16="http://schemas.microsoft.com/office/drawing/2014/main" id="{A47B9E06-1D68-5456-42E0-4328449829A1}"/>
              </a:ext>
            </a:extLst>
          </p:cNvPr>
          <p:cNvSpPr txBox="1"/>
          <p:nvPr/>
        </p:nvSpPr>
        <p:spPr>
          <a:xfrm>
            <a:off x="11148747" y="428385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6" name="文本框 14">
            <a:extLst>
              <a:ext uri="{FF2B5EF4-FFF2-40B4-BE49-F238E27FC236}">
                <a16:creationId xmlns:a16="http://schemas.microsoft.com/office/drawing/2014/main" id="{11D6A3C1-48F3-EDA8-2D6F-8BE40714A546}"/>
              </a:ext>
            </a:extLst>
          </p:cNvPr>
          <p:cNvSpPr txBox="1"/>
          <p:nvPr/>
        </p:nvSpPr>
        <p:spPr>
          <a:xfrm>
            <a:off x="3774141" y="4896170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7" name="文本框 14">
            <a:extLst>
              <a:ext uri="{FF2B5EF4-FFF2-40B4-BE49-F238E27FC236}">
                <a16:creationId xmlns:a16="http://schemas.microsoft.com/office/drawing/2014/main" id="{D2B48978-D074-67E2-E2A4-81B2ECE67C0A}"/>
              </a:ext>
            </a:extLst>
          </p:cNvPr>
          <p:cNvSpPr txBox="1"/>
          <p:nvPr/>
        </p:nvSpPr>
        <p:spPr>
          <a:xfrm>
            <a:off x="7441780" y="4896170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8" name="文本框 14">
            <a:extLst>
              <a:ext uri="{FF2B5EF4-FFF2-40B4-BE49-F238E27FC236}">
                <a16:creationId xmlns:a16="http://schemas.microsoft.com/office/drawing/2014/main" id="{AB9F0EFD-A386-0465-5093-DF6FCFE707D3}"/>
              </a:ext>
            </a:extLst>
          </p:cNvPr>
          <p:cNvSpPr txBox="1"/>
          <p:nvPr/>
        </p:nvSpPr>
        <p:spPr>
          <a:xfrm>
            <a:off x="9275599" y="4866086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9" name="文本框 14">
            <a:extLst>
              <a:ext uri="{FF2B5EF4-FFF2-40B4-BE49-F238E27FC236}">
                <a16:creationId xmlns:a16="http://schemas.microsoft.com/office/drawing/2014/main" id="{CE514933-685A-B5E4-699A-F3FE38422B9D}"/>
              </a:ext>
            </a:extLst>
          </p:cNvPr>
          <p:cNvSpPr txBox="1"/>
          <p:nvPr/>
        </p:nvSpPr>
        <p:spPr>
          <a:xfrm>
            <a:off x="11148747" y="4896170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30" name="文本框 14">
            <a:extLst>
              <a:ext uri="{FF2B5EF4-FFF2-40B4-BE49-F238E27FC236}">
                <a16:creationId xmlns:a16="http://schemas.microsoft.com/office/drawing/2014/main" id="{3D4A9296-5528-FE41-64D8-F543198265B6}"/>
              </a:ext>
            </a:extLst>
          </p:cNvPr>
          <p:cNvSpPr txBox="1"/>
          <p:nvPr/>
        </p:nvSpPr>
        <p:spPr>
          <a:xfrm>
            <a:off x="3774141" y="6093459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32" name="文本框 14">
            <a:extLst>
              <a:ext uri="{FF2B5EF4-FFF2-40B4-BE49-F238E27FC236}">
                <a16:creationId xmlns:a16="http://schemas.microsoft.com/office/drawing/2014/main" id="{527D043C-2829-7CC3-F368-07DF4DEB67D0}"/>
              </a:ext>
            </a:extLst>
          </p:cNvPr>
          <p:cNvSpPr txBox="1"/>
          <p:nvPr/>
        </p:nvSpPr>
        <p:spPr>
          <a:xfrm>
            <a:off x="11148747" y="6093459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27848128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44E4EBF-80EA-5208-10FE-C66E2418C52B}"/>
              </a:ext>
            </a:extLst>
          </p:cNvPr>
          <p:cNvSpPr/>
          <p:nvPr/>
        </p:nvSpPr>
        <p:spPr>
          <a:xfrm rot="1151270">
            <a:off x="305724" y="1386179"/>
            <a:ext cx="9436554" cy="5482180"/>
          </a:xfrm>
          <a:prstGeom prst="rect">
            <a:avLst/>
          </a:prstGeom>
          <a:gradFill flip="none" rotWithShape="1">
            <a:gsLst>
              <a:gs pos="54000">
                <a:schemeClr val="bg1">
                  <a:lumMod val="65000"/>
                  <a:lumOff val="35000"/>
                  <a:alpha val="0"/>
                </a:schemeClr>
              </a:gs>
              <a:gs pos="0">
                <a:schemeClr val="accent1">
                  <a:alpha val="54000"/>
                  <a:lumMod val="65000"/>
                  <a:lumOff val="35000"/>
                </a:schemeClr>
              </a:gs>
              <a:gs pos="0">
                <a:schemeClr val="bg1">
                  <a:lumMod val="75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五边形 1">
            <a:extLst>
              <a:ext uri="{FF2B5EF4-FFF2-40B4-BE49-F238E27FC236}">
                <a16:creationId xmlns:a16="http://schemas.microsoft.com/office/drawing/2014/main" id="{530913AE-FAF5-46A0-A3F7-67D9BF358772}"/>
              </a:ext>
            </a:extLst>
          </p:cNvPr>
          <p:cNvSpPr/>
          <p:nvPr/>
        </p:nvSpPr>
        <p:spPr>
          <a:xfrm>
            <a:off x="-1" y="-10800"/>
            <a:ext cx="2975021" cy="6716306"/>
          </a:xfrm>
          <a:prstGeom prst="homePlat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3E7100D-7DE1-4D90-BD41-23A28FF48204}"/>
              </a:ext>
            </a:extLst>
          </p:cNvPr>
          <p:cNvSpPr/>
          <p:nvPr/>
        </p:nvSpPr>
        <p:spPr>
          <a:xfrm>
            <a:off x="2975020" y="2684091"/>
            <a:ext cx="9216981" cy="1326523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743BF813-EB2F-4957-9C4C-58CB5699A18C}"/>
              </a:ext>
            </a:extLst>
          </p:cNvPr>
          <p:cNvSpPr txBox="1"/>
          <p:nvPr/>
        </p:nvSpPr>
        <p:spPr>
          <a:xfrm>
            <a:off x="2975020" y="2962630"/>
            <a:ext cx="9216980" cy="769443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/>
          <a:p>
            <a:pPr defTabSz="6857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分布式任务调度框原理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1F165B3-DB3A-500D-B7F2-9CAF34AA2513}"/>
              </a:ext>
            </a:extLst>
          </p:cNvPr>
          <p:cNvSpPr/>
          <p:nvPr/>
        </p:nvSpPr>
        <p:spPr>
          <a:xfrm>
            <a:off x="547351" y="2483495"/>
            <a:ext cx="1880316" cy="1891010"/>
          </a:xfrm>
          <a:prstGeom prst="ellipse">
            <a:avLst/>
          </a:prstGeom>
          <a:solidFill>
            <a:schemeClr val="bg1">
              <a:lumMod val="5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7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053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41BD72-633B-4F7D-B978-B7153FDC61B1}"/>
              </a:ext>
            </a:extLst>
          </p:cNvPr>
          <p:cNvSpPr txBox="1"/>
          <p:nvPr/>
        </p:nvSpPr>
        <p:spPr>
          <a:xfrm>
            <a:off x="263898" y="360000"/>
            <a:ext cx="425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Xxl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-Job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架构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7832E-8838-ED43-F100-B37FA2C49B9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pic>
        <p:nvPicPr>
          <p:cNvPr id="5" name="Picture 2" descr="输入图片说明">
            <a:extLst>
              <a:ext uri="{FF2B5EF4-FFF2-40B4-BE49-F238E27FC236}">
                <a16:creationId xmlns:a16="http://schemas.microsoft.com/office/drawing/2014/main" id="{90BDCA8B-F380-C3FD-DD8F-8D2DC87AB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77" y="937318"/>
            <a:ext cx="10285864" cy="545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823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41BD72-633B-4F7D-B978-B7153FDC61B1}"/>
              </a:ext>
            </a:extLst>
          </p:cNvPr>
          <p:cNvSpPr txBox="1"/>
          <p:nvPr/>
        </p:nvSpPr>
        <p:spPr>
          <a:xfrm>
            <a:off x="263898" y="360000"/>
            <a:ext cx="425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Elastic-Job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7832E-8838-ED43-F100-B37FA2C49B9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pic>
        <p:nvPicPr>
          <p:cNvPr id="5" name="Picture 2" descr="ElasticJob-Lite Architecture">
            <a:extLst>
              <a:ext uri="{FF2B5EF4-FFF2-40B4-BE49-F238E27FC236}">
                <a16:creationId xmlns:a16="http://schemas.microsoft.com/office/drawing/2014/main" id="{5E6CBF96-3F2F-F91B-3D85-7A1C76EBB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114" y="821665"/>
            <a:ext cx="9461771" cy="563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017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41BD72-633B-4F7D-B978-B7153FDC61B1}"/>
              </a:ext>
            </a:extLst>
          </p:cNvPr>
          <p:cNvSpPr txBox="1"/>
          <p:nvPr/>
        </p:nvSpPr>
        <p:spPr>
          <a:xfrm>
            <a:off x="263898" y="360000"/>
            <a:ext cx="425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PowerJob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模块视图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7832E-8838-ED43-F100-B37FA2C49B9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2E16284-FA5E-EE31-65C2-A8E036C2B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001" y="241452"/>
            <a:ext cx="6361004" cy="615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320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36377B7-A6A1-AEBD-21E8-89D3DEC248F3}"/>
              </a:ext>
            </a:extLst>
          </p:cNvPr>
          <p:cNvSpPr/>
          <p:nvPr/>
        </p:nvSpPr>
        <p:spPr>
          <a:xfrm>
            <a:off x="884903" y="1809127"/>
            <a:ext cx="8524568" cy="1824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41BD72-633B-4F7D-B978-B7153FDC61B1}"/>
              </a:ext>
            </a:extLst>
          </p:cNvPr>
          <p:cNvSpPr txBox="1"/>
          <p:nvPr/>
        </p:nvSpPr>
        <p:spPr>
          <a:xfrm>
            <a:off x="263897" y="360000"/>
            <a:ext cx="5114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Xxl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-Job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任务调度过程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7832E-8838-ED43-F100-B37FA2C49B9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DBE513-CC68-5AB0-FE05-834430B757D0}"/>
              </a:ext>
            </a:extLst>
          </p:cNvPr>
          <p:cNvSpPr/>
          <p:nvPr/>
        </p:nvSpPr>
        <p:spPr>
          <a:xfrm>
            <a:off x="1209366" y="2414989"/>
            <a:ext cx="1504336" cy="592394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任务调度 周期</a:t>
            </a:r>
            <a:r>
              <a:rPr lang="en-US" altLang="zh-CN" dirty="0"/>
              <a:t>5</a:t>
            </a:r>
            <a:r>
              <a:rPr lang="zh-CN" altLang="en-US" dirty="0"/>
              <a:t>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A9A6FED-83F9-AC97-AC2A-117824D7776E}"/>
              </a:ext>
            </a:extLst>
          </p:cNvPr>
          <p:cNvSpPr/>
          <p:nvPr/>
        </p:nvSpPr>
        <p:spPr>
          <a:xfrm>
            <a:off x="3315603" y="2414989"/>
            <a:ext cx="1504336" cy="592394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时间轮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76D8C9-B267-5A6F-A28F-C3254344B8C3}"/>
              </a:ext>
            </a:extLst>
          </p:cNvPr>
          <p:cNvSpPr/>
          <p:nvPr/>
        </p:nvSpPr>
        <p:spPr>
          <a:xfrm>
            <a:off x="10441216" y="2396161"/>
            <a:ext cx="1504336" cy="592394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执行器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7A8F780-D003-D933-122C-0099A1AAE09D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2713702" y="2711186"/>
            <a:ext cx="601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87B3453-EBDF-01D2-0D5D-748EC56A4D92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1958753" y="3007383"/>
            <a:ext cx="42365" cy="21159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DE467D4D-9CCF-EB6D-2D6E-AA0AE0A65147}"/>
              </a:ext>
            </a:extLst>
          </p:cNvPr>
          <p:cNvSpPr txBox="1"/>
          <p:nvPr/>
        </p:nvSpPr>
        <p:spPr>
          <a:xfrm>
            <a:off x="1623240" y="4232687"/>
            <a:ext cx="64633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获取锁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194E101-6FF3-83E3-9354-AC736B4E6E8D}"/>
              </a:ext>
            </a:extLst>
          </p:cNvPr>
          <p:cNvSpPr/>
          <p:nvPr/>
        </p:nvSpPr>
        <p:spPr>
          <a:xfrm>
            <a:off x="5421840" y="2414989"/>
            <a:ext cx="1504336" cy="592394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触发器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EB81639-7AD5-28B1-77B0-C5C52BDA644B}"/>
              </a:ext>
            </a:extLst>
          </p:cNvPr>
          <p:cNvCxnSpPr>
            <a:stCxn id="17" idx="3"/>
            <a:endCxn id="42" idx="1"/>
          </p:cNvCxnSpPr>
          <p:nvPr/>
        </p:nvCxnSpPr>
        <p:spPr>
          <a:xfrm>
            <a:off x="4819939" y="2711186"/>
            <a:ext cx="601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5EC5AA6-E0F9-9011-81E2-EB3713F51C8A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961534" y="3007383"/>
            <a:ext cx="2114742" cy="2195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CA424196-88CD-EE74-2E35-DCA316B284D7}"/>
              </a:ext>
            </a:extLst>
          </p:cNvPr>
          <p:cNvSpPr txBox="1"/>
          <p:nvPr/>
        </p:nvSpPr>
        <p:spPr>
          <a:xfrm>
            <a:off x="3021738" y="4095197"/>
            <a:ext cx="1877437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查询一个周期内的任务，</a:t>
            </a:r>
            <a:endParaRPr lang="en-US" altLang="zh-CN" sz="1200" dirty="0"/>
          </a:p>
          <a:p>
            <a:r>
              <a:rPr lang="zh-CN" altLang="en-US" sz="1200" dirty="0"/>
              <a:t>并更新下一次触发事件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D6B692D-858B-3C5E-82A3-D915D1749E11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6174008" y="3007383"/>
            <a:ext cx="0" cy="2195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243A79E-5F58-0FD7-CC5D-7173F3168D7C}"/>
              </a:ext>
            </a:extLst>
          </p:cNvPr>
          <p:cNvCxnSpPr>
            <a:cxnSpLocks/>
          </p:cNvCxnSpPr>
          <p:nvPr/>
        </p:nvCxnSpPr>
        <p:spPr>
          <a:xfrm>
            <a:off x="9032414" y="2517050"/>
            <a:ext cx="14088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66E6551-2BEF-1D67-C550-83DA763105AC}"/>
              </a:ext>
            </a:extLst>
          </p:cNvPr>
          <p:cNvCxnSpPr>
            <a:cxnSpLocks/>
          </p:cNvCxnSpPr>
          <p:nvPr/>
        </p:nvCxnSpPr>
        <p:spPr>
          <a:xfrm flipH="1">
            <a:off x="9032414" y="2905424"/>
            <a:ext cx="13477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DF238FDD-C668-5323-330F-1203D50066AD}"/>
              </a:ext>
            </a:extLst>
          </p:cNvPr>
          <p:cNvSpPr txBox="1"/>
          <p:nvPr/>
        </p:nvSpPr>
        <p:spPr>
          <a:xfrm>
            <a:off x="5723167" y="4126818"/>
            <a:ext cx="156966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新增、更新任务日志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D9AD812-27F7-F31E-9621-F93C73CC4588}"/>
              </a:ext>
            </a:extLst>
          </p:cNvPr>
          <p:cNvSpPr/>
          <p:nvPr/>
        </p:nvSpPr>
        <p:spPr>
          <a:xfrm>
            <a:off x="7528078" y="2414989"/>
            <a:ext cx="1504336" cy="592394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按规则选择执行器</a:t>
            </a: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C49BB63C-22C0-49EB-0304-048C4C040D5F}"/>
              </a:ext>
            </a:extLst>
          </p:cNvPr>
          <p:cNvCxnSpPr>
            <a:cxnSpLocks/>
            <a:stCxn id="42" idx="3"/>
            <a:endCxn id="83" idx="1"/>
          </p:cNvCxnSpPr>
          <p:nvPr/>
        </p:nvCxnSpPr>
        <p:spPr>
          <a:xfrm>
            <a:off x="6926176" y="2711186"/>
            <a:ext cx="6019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FEC958E9-569B-75D8-82EA-B2ADB83C7FD5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6174008" y="3046967"/>
            <a:ext cx="2311097" cy="21554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E087F4D-000B-156E-B5DA-CD69AD22B289}"/>
              </a:ext>
            </a:extLst>
          </p:cNvPr>
          <p:cNvSpPr txBox="1"/>
          <p:nvPr/>
        </p:nvSpPr>
        <p:spPr>
          <a:xfrm>
            <a:off x="4506337" y="1419508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Xxl</a:t>
            </a:r>
            <a:r>
              <a:rPr lang="en-US" altLang="zh-CN" dirty="0"/>
              <a:t>-Job Admin</a:t>
            </a:r>
            <a:endParaRPr lang="zh-CN" altLang="en-US" dirty="0"/>
          </a:p>
        </p:txBody>
      </p:sp>
      <p:sp>
        <p:nvSpPr>
          <p:cNvPr id="5" name="流程图: 内部贮存 4">
            <a:extLst>
              <a:ext uri="{FF2B5EF4-FFF2-40B4-BE49-F238E27FC236}">
                <a16:creationId xmlns:a16="http://schemas.microsoft.com/office/drawing/2014/main" id="{7A74C033-0AA5-C035-62EF-24006F282D9E}"/>
              </a:ext>
            </a:extLst>
          </p:cNvPr>
          <p:cNvSpPr/>
          <p:nvPr/>
        </p:nvSpPr>
        <p:spPr>
          <a:xfrm>
            <a:off x="1380304" y="5273270"/>
            <a:ext cx="1431825" cy="612648"/>
          </a:xfrm>
          <a:prstGeom prst="flowChartInternalStorage">
            <a:avLst/>
          </a:prstGeom>
          <a:solidFill>
            <a:srgbClr val="32CB9D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等线"/>
              </a:rPr>
              <a:t>Job-lock</a:t>
            </a:r>
            <a:endParaRPr lang="zh-CN" dirty="0"/>
          </a:p>
        </p:txBody>
      </p:sp>
      <p:sp>
        <p:nvSpPr>
          <p:cNvPr id="6" name="流程图: 内部贮存 5">
            <a:extLst>
              <a:ext uri="{FF2B5EF4-FFF2-40B4-BE49-F238E27FC236}">
                <a16:creationId xmlns:a16="http://schemas.microsoft.com/office/drawing/2014/main" id="{8D13F9E1-7B14-03A9-3586-533984DD549B}"/>
              </a:ext>
            </a:extLst>
          </p:cNvPr>
          <p:cNvSpPr/>
          <p:nvPr/>
        </p:nvSpPr>
        <p:spPr>
          <a:xfrm>
            <a:off x="3349628" y="5213893"/>
            <a:ext cx="1431825" cy="612648"/>
          </a:xfrm>
          <a:prstGeom prst="flowChartInternalStorage">
            <a:avLst/>
          </a:prstGeom>
          <a:solidFill>
            <a:srgbClr val="32CB9D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等线"/>
              </a:rPr>
              <a:t>Job-info</a:t>
            </a:r>
            <a:endParaRPr lang="zh-CN" dirty="0"/>
          </a:p>
        </p:txBody>
      </p:sp>
      <p:sp>
        <p:nvSpPr>
          <p:cNvPr id="7" name="流程图: 内部贮存 6">
            <a:extLst>
              <a:ext uri="{FF2B5EF4-FFF2-40B4-BE49-F238E27FC236}">
                <a16:creationId xmlns:a16="http://schemas.microsoft.com/office/drawing/2014/main" id="{6BF920A9-C1BD-6AB3-6A1D-E386C1C6F790}"/>
              </a:ext>
            </a:extLst>
          </p:cNvPr>
          <p:cNvSpPr/>
          <p:nvPr/>
        </p:nvSpPr>
        <p:spPr>
          <a:xfrm>
            <a:off x="5417913" y="5273269"/>
            <a:ext cx="1431825" cy="612648"/>
          </a:xfrm>
          <a:prstGeom prst="flowChartInternalStorage">
            <a:avLst/>
          </a:prstGeom>
          <a:solidFill>
            <a:srgbClr val="32CB9D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等线"/>
              </a:rPr>
              <a:t>Job-log</a:t>
            </a:r>
            <a:endParaRPr lang="zh-CN" dirty="0"/>
          </a:p>
        </p:txBody>
      </p:sp>
      <p:sp>
        <p:nvSpPr>
          <p:cNvPr id="9" name="流程图: 内部贮存 8">
            <a:extLst>
              <a:ext uri="{FF2B5EF4-FFF2-40B4-BE49-F238E27FC236}">
                <a16:creationId xmlns:a16="http://schemas.microsoft.com/office/drawing/2014/main" id="{567442A3-C777-5CAA-7D39-8A4B4D3AFFE7}"/>
              </a:ext>
            </a:extLst>
          </p:cNvPr>
          <p:cNvSpPr/>
          <p:nvPr/>
        </p:nvSpPr>
        <p:spPr>
          <a:xfrm>
            <a:off x="7565367" y="5451399"/>
            <a:ext cx="1995903" cy="612648"/>
          </a:xfrm>
          <a:prstGeom prst="flowChartInternalStorage">
            <a:avLst/>
          </a:prstGeom>
          <a:solidFill>
            <a:srgbClr val="32CB9D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 err="1">
                <a:ea typeface="等线"/>
              </a:rPr>
              <a:t>group&amp;registry</a:t>
            </a:r>
            <a:endParaRPr lang="zh-CN" dirty="0" err="1"/>
          </a:p>
        </p:txBody>
      </p:sp>
    </p:spTree>
    <p:extLst>
      <p:ext uri="{BB962C8B-B14F-4D97-AF65-F5344CB8AC3E}">
        <p14:creationId xmlns:p14="http://schemas.microsoft.com/office/powerpoint/2010/main" val="1465391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41BD72-633B-4F7D-B978-B7153FDC61B1}"/>
              </a:ext>
            </a:extLst>
          </p:cNvPr>
          <p:cNvSpPr txBox="1"/>
          <p:nvPr/>
        </p:nvSpPr>
        <p:spPr>
          <a:xfrm>
            <a:off x="263897" y="360000"/>
            <a:ext cx="5114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Elastic-Job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quartz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任务调度过程 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7832E-8838-ED43-F100-B37FA2C49B9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9F5B254-E5D5-AF3A-F55D-97234D626551}"/>
              </a:ext>
            </a:extLst>
          </p:cNvPr>
          <p:cNvGrpSpPr/>
          <p:nvPr/>
        </p:nvGrpSpPr>
        <p:grpSpPr>
          <a:xfrm>
            <a:off x="1500878" y="777598"/>
            <a:ext cx="9219786" cy="6080402"/>
            <a:chOff x="1500878" y="777598"/>
            <a:chExt cx="9219786" cy="608040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8AC38590-12CD-E712-6793-3617F61B52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0878" y="777598"/>
              <a:ext cx="9219786" cy="60804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2576C72-C12C-7AB0-0148-712BC5B55919}"/>
                </a:ext>
              </a:extLst>
            </p:cNvPr>
            <p:cNvSpPr/>
            <p:nvPr/>
          </p:nvSpPr>
          <p:spPr>
            <a:xfrm>
              <a:off x="8255236" y="6618716"/>
              <a:ext cx="2465427" cy="2392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1618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6D721D59-0A2B-A867-D1F8-2DCAF4AD6EF0}"/>
              </a:ext>
            </a:extLst>
          </p:cNvPr>
          <p:cNvSpPr/>
          <p:nvPr/>
        </p:nvSpPr>
        <p:spPr>
          <a:xfrm>
            <a:off x="940037" y="3879791"/>
            <a:ext cx="4683092" cy="11640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41BD72-633B-4F7D-B978-B7153FDC61B1}"/>
              </a:ext>
            </a:extLst>
          </p:cNvPr>
          <p:cNvSpPr txBox="1"/>
          <p:nvPr/>
        </p:nvSpPr>
        <p:spPr>
          <a:xfrm>
            <a:off x="263897" y="360000"/>
            <a:ext cx="5114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PowerJob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任务调度过程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7832E-8838-ED43-F100-B37FA2C49B9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575052-3C28-DB3D-C922-AF342AC9E0C3}"/>
              </a:ext>
            </a:extLst>
          </p:cNvPr>
          <p:cNvSpPr/>
          <p:nvPr/>
        </p:nvSpPr>
        <p:spPr>
          <a:xfrm>
            <a:off x="1042218" y="1972545"/>
            <a:ext cx="1504336" cy="592394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任务调度 周期</a:t>
            </a:r>
            <a:r>
              <a:rPr lang="en-US" altLang="zh-CN" dirty="0"/>
              <a:t>15</a:t>
            </a:r>
            <a:r>
              <a:rPr lang="zh-CN" altLang="en-US" dirty="0"/>
              <a:t>秒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5C8AAEE-527A-C951-3EF2-B9F7D9A14EE9}"/>
              </a:ext>
            </a:extLst>
          </p:cNvPr>
          <p:cNvCxnSpPr>
            <a:cxnSpLocks/>
            <a:stCxn id="4" idx="2"/>
            <a:endCxn id="33" idx="0"/>
          </p:cNvCxnSpPr>
          <p:nvPr/>
        </p:nvCxnSpPr>
        <p:spPr>
          <a:xfrm flipH="1">
            <a:off x="1794385" y="2564939"/>
            <a:ext cx="1" cy="15801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7D265684-2820-1CE2-CD14-55CD98F9C59C}"/>
              </a:ext>
            </a:extLst>
          </p:cNvPr>
          <p:cNvSpPr/>
          <p:nvPr/>
        </p:nvSpPr>
        <p:spPr>
          <a:xfrm>
            <a:off x="4995315" y="1971268"/>
            <a:ext cx="1504336" cy="592394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派送服务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9B9D2AD-B6F4-D3B6-58E0-542ADB478049}"/>
              </a:ext>
            </a:extLst>
          </p:cNvPr>
          <p:cNvCxnSpPr>
            <a:cxnSpLocks/>
            <a:stCxn id="4" idx="2"/>
            <a:endCxn id="35" idx="0"/>
          </p:cNvCxnSpPr>
          <p:nvPr/>
        </p:nvCxnSpPr>
        <p:spPr>
          <a:xfrm>
            <a:off x="1794386" y="2564939"/>
            <a:ext cx="1518795" cy="15801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6C67DBC-FE1A-1D2D-130E-66DDF4273318}"/>
              </a:ext>
            </a:extLst>
          </p:cNvPr>
          <p:cNvCxnSpPr>
            <a:cxnSpLocks/>
            <a:stCxn id="4" idx="2"/>
            <a:endCxn id="38" idx="0"/>
          </p:cNvCxnSpPr>
          <p:nvPr/>
        </p:nvCxnSpPr>
        <p:spPr>
          <a:xfrm>
            <a:off x="1794386" y="2564939"/>
            <a:ext cx="3013879" cy="15801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424F81ED-5602-B307-2801-4F1306C4488B}"/>
              </a:ext>
            </a:extLst>
          </p:cNvPr>
          <p:cNvSpPr/>
          <p:nvPr/>
        </p:nvSpPr>
        <p:spPr>
          <a:xfrm>
            <a:off x="2994887" y="1971268"/>
            <a:ext cx="1504336" cy="592394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时间轮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8D71E9F-5087-D8D8-0008-48205F1EF1CD}"/>
              </a:ext>
            </a:extLst>
          </p:cNvPr>
          <p:cNvCxnSpPr>
            <a:stCxn id="4" idx="3"/>
            <a:endCxn id="17" idx="1"/>
          </p:cNvCxnSpPr>
          <p:nvPr/>
        </p:nvCxnSpPr>
        <p:spPr>
          <a:xfrm flipV="1">
            <a:off x="2546554" y="2267465"/>
            <a:ext cx="448333" cy="1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48338155-98CE-D340-78E9-F8FF5EAD9904}"/>
              </a:ext>
            </a:extLst>
          </p:cNvPr>
          <p:cNvSpPr/>
          <p:nvPr/>
        </p:nvSpPr>
        <p:spPr>
          <a:xfrm>
            <a:off x="9498558" y="1972545"/>
            <a:ext cx="1504336" cy="592394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worker</a:t>
            </a:r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AF29FD2-32B4-47CA-DA25-1D6E2AD71EF1}"/>
              </a:ext>
            </a:extLst>
          </p:cNvPr>
          <p:cNvCxnSpPr>
            <a:cxnSpLocks/>
            <a:stCxn id="17" idx="3"/>
            <a:endCxn id="8" idx="1"/>
          </p:cNvCxnSpPr>
          <p:nvPr/>
        </p:nvCxnSpPr>
        <p:spPr>
          <a:xfrm>
            <a:off x="4499223" y="2267465"/>
            <a:ext cx="496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93F1CFD-F91E-F848-25A8-A02F349D9A05}"/>
              </a:ext>
            </a:extLst>
          </p:cNvPr>
          <p:cNvCxnSpPr>
            <a:cxnSpLocks/>
            <a:stCxn id="8" idx="3"/>
            <a:endCxn id="62" idx="1"/>
          </p:cNvCxnSpPr>
          <p:nvPr/>
        </p:nvCxnSpPr>
        <p:spPr>
          <a:xfrm>
            <a:off x="6499651" y="2267465"/>
            <a:ext cx="66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流程图: 内部贮存 32">
            <a:extLst>
              <a:ext uri="{FF2B5EF4-FFF2-40B4-BE49-F238E27FC236}">
                <a16:creationId xmlns:a16="http://schemas.microsoft.com/office/drawing/2014/main" id="{B0A7411C-C1BC-A732-2603-759A1346024F}"/>
              </a:ext>
            </a:extLst>
          </p:cNvPr>
          <p:cNvSpPr/>
          <p:nvPr/>
        </p:nvSpPr>
        <p:spPr>
          <a:xfrm>
            <a:off x="1360511" y="4145114"/>
            <a:ext cx="867748" cy="612648"/>
          </a:xfrm>
          <a:prstGeom prst="flowChartInternalStorage">
            <a:avLst/>
          </a:prstGeom>
          <a:solidFill>
            <a:srgbClr val="32CB9D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</a:t>
            </a:r>
            <a:endParaRPr lang="zh-CN" altLang="en-US" dirty="0"/>
          </a:p>
        </p:txBody>
      </p:sp>
      <p:sp>
        <p:nvSpPr>
          <p:cNvPr id="35" name="流程图: 内部贮存 34">
            <a:extLst>
              <a:ext uri="{FF2B5EF4-FFF2-40B4-BE49-F238E27FC236}">
                <a16:creationId xmlns:a16="http://schemas.microsoft.com/office/drawing/2014/main" id="{9BEFA32B-5883-4602-1160-7AEA61A99B23}"/>
              </a:ext>
            </a:extLst>
          </p:cNvPr>
          <p:cNvSpPr/>
          <p:nvPr/>
        </p:nvSpPr>
        <p:spPr>
          <a:xfrm>
            <a:off x="2879307" y="4145114"/>
            <a:ext cx="867748" cy="612648"/>
          </a:xfrm>
          <a:prstGeom prst="flowChartInternalStorage">
            <a:avLst/>
          </a:prstGeom>
          <a:solidFill>
            <a:srgbClr val="32CB9D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Job</a:t>
            </a:r>
            <a:endParaRPr lang="zh-CN" altLang="en-US" dirty="0"/>
          </a:p>
        </p:txBody>
      </p:sp>
      <p:sp>
        <p:nvSpPr>
          <p:cNvPr id="38" name="流程图: 内部贮存 37">
            <a:extLst>
              <a:ext uri="{FF2B5EF4-FFF2-40B4-BE49-F238E27FC236}">
                <a16:creationId xmlns:a16="http://schemas.microsoft.com/office/drawing/2014/main" id="{0F8D180E-312F-FBE3-AA5B-3F8EB638CCC6}"/>
              </a:ext>
            </a:extLst>
          </p:cNvPr>
          <p:cNvSpPr/>
          <p:nvPr/>
        </p:nvSpPr>
        <p:spPr>
          <a:xfrm>
            <a:off x="4245742" y="4145114"/>
            <a:ext cx="1125046" cy="612648"/>
          </a:xfrm>
          <a:prstGeom prst="flowChartInternalStorage">
            <a:avLst/>
          </a:prstGeom>
          <a:solidFill>
            <a:srgbClr val="32CB9D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dirty="0">
                <a:ea typeface="等线"/>
              </a:rPr>
              <a:t>instance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A93CEC0-07D5-224C-1691-C808DA3A9441}"/>
              </a:ext>
            </a:extLst>
          </p:cNvPr>
          <p:cNvSpPr txBox="1"/>
          <p:nvPr/>
        </p:nvSpPr>
        <p:spPr>
          <a:xfrm>
            <a:off x="2999730" y="350755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数据库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1A338E1-9505-31C4-80DA-71E23DF77A74}"/>
              </a:ext>
            </a:extLst>
          </p:cNvPr>
          <p:cNvSpPr/>
          <p:nvPr/>
        </p:nvSpPr>
        <p:spPr>
          <a:xfrm>
            <a:off x="863125" y="1666223"/>
            <a:ext cx="8169780" cy="11640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AB90E3F-641C-C8AF-5484-31A46554ADF1}"/>
              </a:ext>
            </a:extLst>
          </p:cNvPr>
          <p:cNvSpPr txBox="1"/>
          <p:nvPr/>
        </p:nvSpPr>
        <p:spPr>
          <a:xfrm>
            <a:off x="3874587" y="1359899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Server</a:t>
            </a:r>
            <a:endParaRPr lang="zh-CN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0213101-A333-7A31-A243-BE9636AA87D4}"/>
              </a:ext>
            </a:extLst>
          </p:cNvPr>
          <p:cNvSpPr/>
          <p:nvPr/>
        </p:nvSpPr>
        <p:spPr>
          <a:xfrm>
            <a:off x="7159715" y="1971268"/>
            <a:ext cx="1504336" cy="592394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选择</a:t>
            </a:r>
            <a:r>
              <a:rPr lang="en-US" altLang="zh-CN" dirty="0"/>
              <a:t>worker</a:t>
            </a:r>
            <a:endParaRPr lang="zh-CN" altLang="en-US" dirty="0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11FA5444-6C4B-C010-6CCE-A02242A7BE96}"/>
              </a:ext>
            </a:extLst>
          </p:cNvPr>
          <p:cNvCxnSpPr>
            <a:cxnSpLocks/>
            <a:stCxn id="62" idx="3"/>
            <a:endCxn id="25" idx="1"/>
          </p:cNvCxnSpPr>
          <p:nvPr/>
        </p:nvCxnSpPr>
        <p:spPr>
          <a:xfrm>
            <a:off x="8664051" y="2267465"/>
            <a:ext cx="834507" cy="1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335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41BD72-633B-4F7D-B978-B7153FDC61B1}"/>
              </a:ext>
            </a:extLst>
          </p:cNvPr>
          <p:cNvSpPr txBox="1"/>
          <p:nvPr/>
        </p:nvSpPr>
        <p:spPr>
          <a:xfrm>
            <a:off x="263897" y="360000"/>
            <a:ext cx="5114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PowerJob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-MapReduce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7832E-8838-ED43-F100-B37FA2C49B9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612D573-C351-6B0B-9FD4-43BF53AAD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580" y="895580"/>
            <a:ext cx="8976840" cy="560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4268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41BD72-633B-4F7D-B978-B7153FDC61B1}"/>
              </a:ext>
            </a:extLst>
          </p:cNvPr>
          <p:cNvSpPr txBox="1"/>
          <p:nvPr/>
        </p:nvSpPr>
        <p:spPr>
          <a:xfrm>
            <a:off x="263897" y="360000"/>
            <a:ext cx="5114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时间轮算法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7832E-8838-ED43-F100-B37FA2C49B9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755A09B-FF94-808A-45C8-4186F62316FE}"/>
              </a:ext>
            </a:extLst>
          </p:cNvPr>
          <p:cNvGrpSpPr/>
          <p:nvPr/>
        </p:nvGrpSpPr>
        <p:grpSpPr>
          <a:xfrm>
            <a:off x="6314277" y="1224422"/>
            <a:ext cx="5304121" cy="4675239"/>
            <a:chOff x="6314277" y="1224422"/>
            <a:chExt cx="5304121" cy="4675239"/>
          </a:xfrm>
        </p:grpSpPr>
        <p:pic>
          <p:nvPicPr>
            <p:cNvPr id="9" name="图片 8" descr="图示&#10;&#10;描述已自动生成">
              <a:extLst>
                <a:ext uri="{FF2B5EF4-FFF2-40B4-BE49-F238E27FC236}">
                  <a16:creationId xmlns:a16="http://schemas.microsoft.com/office/drawing/2014/main" id="{825760F8-0D96-29CD-488D-FC63EBAB0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4277" y="1224422"/>
              <a:ext cx="5304121" cy="4675239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75A2EE8-9AE7-E777-105F-6B5621269C12}"/>
                </a:ext>
              </a:extLst>
            </p:cNvPr>
            <p:cNvSpPr/>
            <p:nvPr/>
          </p:nvSpPr>
          <p:spPr>
            <a:xfrm>
              <a:off x="10133728" y="5358581"/>
              <a:ext cx="1484670" cy="4609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F08D686-1429-F3EB-81B6-62F8CE39476F}"/>
              </a:ext>
            </a:extLst>
          </p:cNvPr>
          <p:cNvGrpSpPr/>
          <p:nvPr/>
        </p:nvGrpSpPr>
        <p:grpSpPr>
          <a:xfrm>
            <a:off x="222890" y="1928809"/>
            <a:ext cx="5949322" cy="3266464"/>
            <a:chOff x="163898" y="1928809"/>
            <a:chExt cx="5949322" cy="3266464"/>
          </a:xfrm>
        </p:grpSpPr>
        <p:pic>
          <p:nvPicPr>
            <p:cNvPr id="7" name="图片 6" descr="图示&#10;&#10;描述已自动生成">
              <a:extLst>
                <a:ext uri="{FF2B5EF4-FFF2-40B4-BE49-F238E27FC236}">
                  <a16:creationId xmlns:a16="http://schemas.microsoft.com/office/drawing/2014/main" id="{10FA4C50-978E-CD0A-EA52-64B4D22C5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898" y="1928809"/>
              <a:ext cx="5949322" cy="3266463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9174870-E3F3-F00F-403E-C9A75E0ABB4D}"/>
                </a:ext>
              </a:extLst>
            </p:cNvPr>
            <p:cNvSpPr/>
            <p:nvPr/>
          </p:nvSpPr>
          <p:spPr>
            <a:xfrm>
              <a:off x="4628550" y="4935795"/>
              <a:ext cx="1484670" cy="2594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7984462-B0C3-2E47-0772-37601BB0251F}"/>
                </a:ext>
              </a:extLst>
            </p:cNvPr>
            <p:cNvCxnSpPr>
              <a:cxnSpLocks/>
            </p:cNvCxnSpPr>
            <p:nvPr/>
          </p:nvCxnSpPr>
          <p:spPr>
            <a:xfrm>
              <a:off x="4667876" y="4965293"/>
              <a:ext cx="926678" cy="0"/>
            </a:xfrm>
            <a:prstGeom prst="line">
              <a:avLst/>
            </a:prstGeom>
            <a:ln w="1524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3294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44E4EBF-80EA-5208-10FE-C66E2418C52B}"/>
              </a:ext>
            </a:extLst>
          </p:cNvPr>
          <p:cNvSpPr/>
          <p:nvPr/>
        </p:nvSpPr>
        <p:spPr>
          <a:xfrm rot="1151270">
            <a:off x="305724" y="1386179"/>
            <a:ext cx="9436554" cy="5482180"/>
          </a:xfrm>
          <a:prstGeom prst="rect">
            <a:avLst/>
          </a:prstGeom>
          <a:gradFill flip="none" rotWithShape="1">
            <a:gsLst>
              <a:gs pos="54000">
                <a:schemeClr val="bg1">
                  <a:lumMod val="65000"/>
                  <a:lumOff val="35000"/>
                  <a:alpha val="0"/>
                </a:schemeClr>
              </a:gs>
              <a:gs pos="0">
                <a:schemeClr val="accent1">
                  <a:alpha val="54000"/>
                  <a:lumMod val="65000"/>
                  <a:lumOff val="35000"/>
                </a:schemeClr>
              </a:gs>
              <a:gs pos="0">
                <a:schemeClr val="bg1">
                  <a:lumMod val="75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五边形 1">
            <a:extLst>
              <a:ext uri="{FF2B5EF4-FFF2-40B4-BE49-F238E27FC236}">
                <a16:creationId xmlns:a16="http://schemas.microsoft.com/office/drawing/2014/main" id="{530913AE-FAF5-46A0-A3F7-67D9BF358772}"/>
              </a:ext>
            </a:extLst>
          </p:cNvPr>
          <p:cNvSpPr/>
          <p:nvPr/>
        </p:nvSpPr>
        <p:spPr>
          <a:xfrm>
            <a:off x="-1" y="-10800"/>
            <a:ext cx="2975021" cy="6716306"/>
          </a:xfrm>
          <a:prstGeom prst="homePlat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3E7100D-7DE1-4D90-BD41-23A28FF48204}"/>
              </a:ext>
            </a:extLst>
          </p:cNvPr>
          <p:cNvSpPr/>
          <p:nvPr/>
        </p:nvSpPr>
        <p:spPr>
          <a:xfrm>
            <a:off x="2975020" y="2684091"/>
            <a:ext cx="9216981" cy="1326523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743BF813-EB2F-4957-9C4C-58CB5699A18C}"/>
              </a:ext>
            </a:extLst>
          </p:cNvPr>
          <p:cNvSpPr txBox="1"/>
          <p:nvPr/>
        </p:nvSpPr>
        <p:spPr>
          <a:xfrm>
            <a:off x="2975020" y="2962630"/>
            <a:ext cx="9216980" cy="769443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/>
          <a:p>
            <a:r>
              <a:rPr lang="zh-CN" altLang="en-US" sz="44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4400" b="1" dirty="0" err="1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PowerJob</a:t>
            </a:r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1F165B3-DB3A-500D-B7F2-9CAF34AA2513}"/>
              </a:ext>
            </a:extLst>
          </p:cNvPr>
          <p:cNvSpPr/>
          <p:nvPr/>
        </p:nvSpPr>
        <p:spPr>
          <a:xfrm>
            <a:off x="547351" y="2483495"/>
            <a:ext cx="1880316" cy="1891010"/>
          </a:xfrm>
          <a:prstGeom prst="ellipse">
            <a:avLst/>
          </a:prstGeom>
          <a:solidFill>
            <a:schemeClr val="bg1">
              <a:lumMod val="5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7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414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41BD72-633B-4F7D-B978-B7153FDC61B1}"/>
              </a:ext>
            </a:extLst>
          </p:cNvPr>
          <p:cNvSpPr txBox="1"/>
          <p:nvPr/>
        </p:nvSpPr>
        <p:spPr>
          <a:xfrm>
            <a:off x="263898" y="360000"/>
            <a:ext cx="425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PowerJob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注意事项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7832E-8838-ED43-F100-B37FA2C49B9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DC7702-D0A0-498D-877F-DB8D57BE19B2}"/>
              </a:ext>
            </a:extLst>
          </p:cNvPr>
          <p:cNvSpPr txBox="1"/>
          <p:nvPr/>
        </p:nvSpPr>
        <p:spPr>
          <a:xfrm>
            <a:off x="658965" y="1178818"/>
            <a:ext cx="862287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、服务器时间需要相同。</a:t>
            </a:r>
            <a:endParaRPr lang="en-US" altLang="zh-CN" dirty="0"/>
          </a:p>
          <a:p>
            <a:r>
              <a:rPr lang="en-US" altLang="zh-CN" sz="1800" dirty="0">
                <a:effectLst/>
                <a:ea typeface="Microsoft YaHei" panose="020B0503020204020204" pitchFamily="34" charset="-122"/>
              </a:rPr>
              <a:t>2</a:t>
            </a:r>
            <a:r>
              <a:rPr lang="zh-CN" altLang="en-US" dirty="0"/>
              <a:t>、</a:t>
            </a:r>
            <a:r>
              <a:rPr lang="en-US" altLang="zh-CN" dirty="0"/>
              <a:t>corn</a:t>
            </a:r>
            <a:r>
              <a:rPr lang="zh-CN" altLang="zh-CN" dirty="0"/>
              <a:t>类型的频率不能小于</a:t>
            </a:r>
            <a:r>
              <a:rPr lang="en-US" altLang="zh-CN" dirty="0"/>
              <a:t>15</a:t>
            </a:r>
            <a:r>
              <a:rPr lang="zh-CN" altLang="zh-CN" dirty="0"/>
              <a:t>秒</a:t>
            </a:r>
            <a:r>
              <a:rPr lang="zh-CN" altLang="en-US" dirty="0"/>
              <a:t>。小于</a:t>
            </a:r>
            <a:r>
              <a:rPr lang="en-US" altLang="zh-CN" dirty="0"/>
              <a:t>15</a:t>
            </a:r>
            <a:r>
              <a:rPr lang="zh-CN" altLang="en-US" dirty="0"/>
              <a:t>秒的任务使用</a:t>
            </a:r>
            <a:r>
              <a:rPr lang="zh-CN" altLang="en-US" sz="1800" b="0" kern="12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固定频率、固定延迟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实现。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dirty="0"/>
              <a:t>3</a:t>
            </a:r>
            <a:r>
              <a:rPr lang="zh-CN" altLang="en-US" dirty="0"/>
              <a:t>、建议使用</a:t>
            </a:r>
            <a:r>
              <a:rPr lang="en-US" altLang="zh-CN" dirty="0"/>
              <a:t>HTTP</a:t>
            </a:r>
            <a:r>
              <a:rPr lang="zh-CN" altLang="en-US" dirty="0"/>
              <a:t>不使用</a:t>
            </a:r>
            <a:r>
              <a:rPr lang="en-US" altLang="zh-CN" dirty="0" err="1"/>
              <a:t>akka</a:t>
            </a:r>
            <a:r>
              <a:rPr lang="zh-CN" altLang="en-US" dirty="0"/>
              <a:t>协议。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、尽量做到任务可重复执行。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、使用</a:t>
            </a:r>
            <a:r>
              <a:rPr lang="en-US" altLang="zh-CN" dirty="0"/>
              <a:t>MapReduce</a:t>
            </a:r>
            <a:r>
              <a:rPr lang="zh-CN" altLang="en-US" dirty="0"/>
              <a:t>任务时，</a:t>
            </a:r>
            <a:r>
              <a:rPr lang="en-US" altLang="zh-CN" dirty="0"/>
              <a:t>Map</a:t>
            </a:r>
            <a:r>
              <a:rPr lang="zh-CN" altLang="en-US" dirty="0"/>
              <a:t>中的子任务尽量小避免任务网络阻塞。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00040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44E4EBF-80EA-5208-10FE-C66E2418C52B}"/>
              </a:ext>
            </a:extLst>
          </p:cNvPr>
          <p:cNvSpPr/>
          <p:nvPr/>
        </p:nvSpPr>
        <p:spPr>
          <a:xfrm rot="1151270">
            <a:off x="305724" y="1386179"/>
            <a:ext cx="9436554" cy="5482180"/>
          </a:xfrm>
          <a:prstGeom prst="rect">
            <a:avLst/>
          </a:prstGeom>
          <a:gradFill flip="none" rotWithShape="1">
            <a:gsLst>
              <a:gs pos="54000">
                <a:schemeClr val="bg1">
                  <a:lumMod val="65000"/>
                  <a:lumOff val="35000"/>
                  <a:alpha val="0"/>
                </a:schemeClr>
              </a:gs>
              <a:gs pos="0">
                <a:schemeClr val="accent1">
                  <a:alpha val="54000"/>
                  <a:lumMod val="65000"/>
                  <a:lumOff val="35000"/>
                </a:schemeClr>
              </a:gs>
              <a:gs pos="0">
                <a:schemeClr val="bg1">
                  <a:lumMod val="75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五边形 1">
            <a:extLst>
              <a:ext uri="{FF2B5EF4-FFF2-40B4-BE49-F238E27FC236}">
                <a16:creationId xmlns:a16="http://schemas.microsoft.com/office/drawing/2014/main" id="{530913AE-FAF5-46A0-A3F7-67D9BF358772}"/>
              </a:ext>
            </a:extLst>
          </p:cNvPr>
          <p:cNvSpPr/>
          <p:nvPr/>
        </p:nvSpPr>
        <p:spPr>
          <a:xfrm>
            <a:off x="-1" y="-10800"/>
            <a:ext cx="2975021" cy="6716306"/>
          </a:xfrm>
          <a:prstGeom prst="homePlate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3E7100D-7DE1-4D90-BD41-23A28FF48204}"/>
              </a:ext>
            </a:extLst>
          </p:cNvPr>
          <p:cNvSpPr/>
          <p:nvPr/>
        </p:nvSpPr>
        <p:spPr>
          <a:xfrm>
            <a:off x="2975020" y="2684091"/>
            <a:ext cx="9216981" cy="1326523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743BF813-EB2F-4957-9C4C-58CB5699A18C}"/>
              </a:ext>
            </a:extLst>
          </p:cNvPr>
          <p:cNvSpPr txBox="1"/>
          <p:nvPr/>
        </p:nvSpPr>
        <p:spPr>
          <a:xfrm>
            <a:off x="2975020" y="2962630"/>
            <a:ext cx="9216980" cy="769443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/>
          <a:p>
            <a:r>
              <a:rPr lang="en-US" altLang="zh-CN" sz="4400" b="1" dirty="0" err="1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XxlJob</a:t>
            </a:r>
            <a:r>
              <a:rPr lang="zh-CN" altLang="en-US" sz="44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任务如何切换到</a:t>
            </a:r>
            <a:r>
              <a:rPr lang="en-US" altLang="zh-CN" sz="4400" b="1" dirty="0" err="1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PowerJob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1F165B3-DB3A-500D-B7F2-9CAF34AA2513}"/>
              </a:ext>
            </a:extLst>
          </p:cNvPr>
          <p:cNvSpPr/>
          <p:nvPr/>
        </p:nvSpPr>
        <p:spPr>
          <a:xfrm>
            <a:off x="547351" y="2483495"/>
            <a:ext cx="1880316" cy="1891010"/>
          </a:xfrm>
          <a:prstGeom prst="ellipse">
            <a:avLst/>
          </a:prstGeom>
          <a:solidFill>
            <a:schemeClr val="bg1">
              <a:lumMod val="5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7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428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41BD72-633B-4F7D-B978-B7153FDC61B1}"/>
              </a:ext>
            </a:extLst>
          </p:cNvPr>
          <p:cNvSpPr txBox="1"/>
          <p:nvPr/>
        </p:nvSpPr>
        <p:spPr>
          <a:xfrm>
            <a:off x="263898" y="360000"/>
            <a:ext cx="425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简单任务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7832E-8838-ED43-F100-B37FA2C49B9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A2C78F-9D32-6123-B566-6BD02801CFCC}"/>
              </a:ext>
            </a:extLst>
          </p:cNvPr>
          <p:cNvSpPr txBox="1"/>
          <p:nvPr/>
        </p:nvSpPr>
        <p:spPr>
          <a:xfrm>
            <a:off x="466165" y="13178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C863B7-5619-24CD-3E66-742C8577E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3" y="1090611"/>
            <a:ext cx="6608949" cy="26884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7E21F77-C796-1D3B-A256-BD12C29CA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3861935"/>
            <a:ext cx="7620000" cy="225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702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41BD72-633B-4F7D-B978-B7153FDC61B1}"/>
              </a:ext>
            </a:extLst>
          </p:cNvPr>
          <p:cNvSpPr txBox="1"/>
          <p:nvPr/>
        </p:nvSpPr>
        <p:spPr>
          <a:xfrm>
            <a:off x="263898" y="360000"/>
            <a:ext cx="425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脚本任务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7832E-8838-ED43-F100-B37FA2C49B9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A2C78F-9D32-6123-B566-6BD02801CFCC}"/>
              </a:ext>
            </a:extLst>
          </p:cNvPr>
          <p:cNvSpPr txBox="1"/>
          <p:nvPr/>
        </p:nvSpPr>
        <p:spPr>
          <a:xfrm>
            <a:off x="466165" y="13178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6" name="图片 5" descr="图形用户界面&#10;&#10;描述已自动生成">
            <a:extLst>
              <a:ext uri="{FF2B5EF4-FFF2-40B4-BE49-F238E27FC236}">
                <a16:creationId xmlns:a16="http://schemas.microsoft.com/office/drawing/2014/main" id="{23001A1E-C892-D0EA-7777-FD673D23F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846" y="1046483"/>
            <a:ext cx="6951567" cy="34269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8D81AF8-C3DB-BA28-7EFA-4AA1D310A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98" y="966507"/>
            <a:ext cx="469582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26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41BD72-633B-4F7D-B978-B7153FDC61B1}"/>
              </a:ext>
            </a:extLst>
          </p:cNvPr>
          <p:cNvSpPr txBox="1"/>
          <p:nvPr/>
        </p:nvSpPr>
        <p:spPr>
          <a:xfrm>
            <a:off x="263898" y="360000"/>
            <a:ext cx="425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分片任务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7832E-8838-ED43-F100-B37FA2C49B9F}"/>
              </a:ext>
            </a:extLst>
          </p:cNvPr>
          <p:cNvSpPr/>
          <p:nvPr/>
        </p:nvSpPr>
        <p:spPr>
          <a:xfrm flipV="1">
            <a:off x="0" y="360000"/>
            <a:ext cx="170482" cy="417598"/>
          </a:xfrm>
          <a:prstGeom prst="rect">
            <a:avLst/>
          </a:prstGeom>
          <a:solidFill>
            <a:srgbClr val="32C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70C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A2C78F-9D32-6123-B566-6BD02801CFCC}"/>
              </a:ext>
            </a:extLst>
          </p:cNvPr>
          <p:cNvSpPr txBox="1"/>
          <p:nvPr/>
        </p:nvSpPr>
        <p:spPr>
          <a:xfrm>
            <a:off x="466165" y="13178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FDD3686-43E0-407C-3154-C60E603AD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76036"/>
            <a:ext cx="5990602" cy="33627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1BC79EB-F236-B010-CCC3-36422760F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762" y="1276036"/>
            <a:ext cx="6059237" cy="426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07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B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2">
            <a:extLst>
              <a:ext uri="{FF2B5EF4-FFF2-40B4-BE49-F238E27FC236}">
                <a16:creationId xmlns:a16="http://schemas.microsoft.com/office/drawing/2014/main" id="{DCE29AAA-0A0E-D8A7-9CA5-8385A1233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41" y="328381"/>
            <a:ext cx="12168033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CA1B2B2-BDD0-B0BC-8666-3FF7EEBB2AAD}"/>
              </a:ext>
            </a:extLst>
          </p:cNvPr>
          <p:cNvSpPr/>
          <p:nvPr/>
        </p:nvSpPr>
        <p:spPr>
          <a:xfrm>
            <a:off x="5230536" y="3495771"/>
            <a:ext cx="17309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Quicksand" charset="0"/>
                <a:ea typeface="Quicksand" charset="0"/>
                <a:cs typeface="Quicksand" charset="0"/>
              </a:rPr>
              <a:t>Thank you</a:t>
            </a:r>
            <a:endParaRPr kumimoji="1" lang="zh-CN" altLang="en-US" sz="2800" b="1">
              <a:solidFill>
                <a:schemeClr val="bg1"/>
              </a:solidFill>
              <a:latin typeface="Quicksand" charset="0"/>
              <a:ea typeface="Quicksand" charset="0"/>
              <a:cs typeface="Quicksand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6B8562-CB09-9D74-119B-7ECD75376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344" y="6073313"/>
            <a:ext cx="1765312" cy="38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27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模板" id="{8A631A22-3429-E043-BA3E-404577C17601}" vid="{C1213F40-3F75-BC4F-88D7-08054078A14F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564</Words>
  <Application>Microsoft Office PowerPoint</Application>
  <PresentationFormat>宽屏</PresentationFormat>
  <Paragraphs>192</Paragraphs>
  <Slides>22</Slides>
  <Notes>10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revision>35</cp:revision>
  <dcterms:created xsi:type="dcterms:W3CDTF">2023-06-19T02:02:56Z</dcterms:created>
  <dcterms:modified xsi:type="dcterms:W3CDTF">2024-02-18T02:10:19Z</dcterms:modified>
</cp:coreProperties>
</file>